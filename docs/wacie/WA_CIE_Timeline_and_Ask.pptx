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58368" cy="566928"/>
          </a:xfrm>
          <a:prstGeom prst="roundRect">
            <a:avLst>
              <a:gd name="adj" fmla="val 193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38404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Timeline — Overview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418527" y="402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→ phase gates → renewal options  ·  CY2027–2031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 CIE · joint Connect360 + WPCO response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wks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GO-LIVE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June 2027 · 103 MVP requirements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77108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4852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6D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wk 14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3614852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FROZEN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614852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first partner integrates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87288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wk 24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6425032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WaTech SDR PASSED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425032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every byte of HCA data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997467" y="1115568"/>
            <a:ext cx="2627300" cy="1024128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35211" y="1207008"/>
            <a:ext cx="2170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6–8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9235211" y="1609344"/>
            <a:ext cx="21701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IN PRODUCTION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9235211" y="1828800"/>
            <a:ext cx="21701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at MVP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06040" y="2377440"/>
            <a:ext cx="0" cy="3035808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03120" y="5468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97096" y="2377440"/>
            <a:ext cx="0" cy="3035808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94176" y="5468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2028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788152" y="2377440"/>
            <a:ext cx="0" cy="3035808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85232" y="5468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2029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79208" y="2377440"/>
            <a:ext cx="0" cy="3035808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76288" y="5468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2030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970264" y="2377440"/>
            <a:ext cx="0" cy="3035808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67344" y="5468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2031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561320" y="2377440"/>
            <a:ext cx="0" cy="3035808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58400" y="5468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2031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392058" y="2432304"/>
            <a:ext cx="146304" cy="164592"/>
          </a:xfrm>
          <a:prstGeom prst="diamond">
            <a:avLst/>
          </a:prstGeom>
          <a:solidFill>
            <a:srgbClr val="2F6DB4"/>
          </a:solidFill>
          <a:ln w="12700">
            <a:solidFill>
              <a:srgbClr val="2F6DB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596530" y="21945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frozen wk14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123944" y="2432304"/>
            <a:ext cx="146304" cy="164592"/>
          </a:xfrm>
          <a:prstGeom prst="diamond">
            <a:avLst/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51376" y="2194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GO-LIVE  wk26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594360" y="27797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CY2027</a:t>
            </a:r>
            <a:endParaRPr lang="en-US" sz="9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606040" y="2688336"/>
            <a:ext cx="1591056" cy="512064"/>
          </a:xfrm>
          <a:prstGeom prst="roundRect">
            <a:avLst>
              <a:gd name="adj" fmla="val 3571"/>
            </a:avLst>
          </a:prstGeom>
          <a:solidFill>
            <a:srgbClr val="E4EFEA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715768" y="27797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path · contract surfaces · MVP product · compliance · certification · WaTech SDR wk24 · 6–8 partners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4288536" y="278892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$3.16M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2185416" y="34747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CY2028</a:t>
            </a:r>
            <a:endParaRPr lang="en-US" sz="9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197096" y="3383280"/>
            <a:ext cx="1591056" cy="512064"/>
          </a:xfrm>
          <a:prstGeom prst="roundRect">
            <a:avLst>
              <a:gd name="adj" fmla="val 3571"/>
            </a:avLst>
          </a:prstGeom>
          <a:solidFill>
            <a:srgbClr val="E7EEF6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306824" y="3474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GATE 1 — shared care plan · granular consent · population &amp; equity analytics · next cohort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5879592" y="348386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$2.87M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3776472" y="416966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CY2029–31</a:t>
            </a:r>
            <a:endParaRPr lang="en-US" sz="9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788152" y="4078224"/>
            <a:ext cx="4773168" cy="512064"/>
          </a:xfrm>
          <a:prstGeom prst="roundRect">
            <a:avLst>
              <a:gd name="adj" fmla="val 3571"/>
            </a:avLst>
          </a:prstGeom>
          <a:solidFill>
            <a:srgbClr val="E7DCC2"/>
          </a:solidFill>
          <a:ln w="12700">
            <a:solidFill>
              <a:srgbClr val="A9741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897880" y="4169664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GATE 2 — event notification · knowledge graph by replay · journey engine · WPC ranking · real-time dispatch · governed agents · care-plan intelligence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10652760" y="417880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$8.20M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2185416" y="48646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</a:t>
            </a:r>
            <a:endParaRPr lang="en-US" sz="950" dirty="0"/>
          </a:p>
          <a:p>
            <a:pPr algn="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recertification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197096" y="4773168"/>
            <a:ext cx="6364224" cy="512064"/>
          </a:xfrm>
          <a:prstGeom prst="roundRect">
            <a:avLst>
              <a:gd name="adj" fmla="val 3571"/>
            </a:avLst>
          </a:prstGeom>
          <a:solidFill>
            <a:srgbClr val="ECEDE8"/>
          </a:solidFill>
          <a:ln w="12700">
            <a:solidFill>
              <a:srgbClr val="5A6A6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306824" y="4864608"/>
            <a:ext cx="6144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tier-2/3 support · annual HITRUST / SOC 2 recertification · governance participation — continuous from go-live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5947258" y="5577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B44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FIT THE ENVELOPE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947258" y="5779008"/>
            <a:ext cx="3977640" cy="512064"/>
          </a:xfrm>
          <a:prstGeom prst="roundRect">
            <a:avLst>
              <a:gd name="adj" fmla="val 3571"/>
            </a:avLst>
          </a:prstGeom>
          <a:solidFill>
            <a:srgbClr val="F6E7E2"/>
          </a:solidFill>
          <a:ln w="12700">
            <a:solidFill>
              <a:srgbClr val="B4462E"/>
            </a:solidFill>
            <a:prstDash val="dash"/>
          </a:ln>
        </p:spPr>
      </p:sp>
      <p:sp>
        <p:nvSpPr>
          <p:cNvPr id="55" name="Text 53"/>
          <p:cNvSpPr txBox="1"/>
          <p:nvPr/>
        </p:nvSpPr>
        <p:spPr>
          <a:xfrm>
            <a:off x="6056986" y="5870448"/>
            <a:ext cx="3758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i="1" dirty="0">
                <a:solidFill>
                  <a:srgbClr val="B44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Client-facing portal · agentic marketplace · household thread · agent ROI — needs a second funding source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10016338" y="58795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$1.87M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566928" y="559612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go-live 30 June 2027 with 6–8 interoperability partners in production. Each phase is scoped to what that year’s funding ceiling can fund, not to the wish list. Five-year evaluated price $15.81M against a $17.3M envelope — $1.49M of headroom. CY2027 is the only year over its ceiling: $108,472 at a 10% margin, and it fits at roughly 7%. Renewal options CY2029–31 are exercised at Comagine’s sole discretion; only CY2027–28 is committed.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566928" y="660196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 follows — 06b: CY2027 MVP roadmap and release table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58368" cy="566928"/>
          </a:xfrm>
          <a:prstGeom prst="roundRect">
            <a:avLst>
              <a:gd name="adj" fmla="val 193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38404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CY2027 MVP Roadmap (wk 1–34)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418527" y="402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Sequenced by irreversibility, not by value · contract start 4 Jan 2027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Tiers 1 and 2 complete before any partner integrates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88920" y="1115568"/>
            <a:ext cx="0" cy="36393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896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83084" y="1115568"/>
            <a:ext cx="0" cy="36393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80164" y="896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120938" y="1115568"/>
            <a:ext cx="0" cy="36393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18018" y="896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wk14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658793" y="1115568"/>
            <a:ext cx="0" cy="36393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55873" y="896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wk20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96647" y="1115568"/>
            <a:ext cx="0" cy="36393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93727" y="896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wk26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247120" y="1115568"/>
            <a:ext cx="0" cy="3639312"/>
          </a:xfrm>
          <a:prstGeom prst="line">
            <a:avLst/>
          </a:prstGeom>
          <a:noFill/>
          <a:ln w="7620">
            <a:solidFill>
              <a:srgbClr val="C7CD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744200" y="896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wk34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11887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write path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88920" y="1170432"/>
            <a:ext cx="3332018" cy="274320"/>
          </a:xfrm>
          <a:prstGeom prst="roundRect">
            <a:avLst>
              <a:gd name="adj" fmla="val 6667"/>
            </a:avLst>
          </a:prstGeom>
          <a:solidFill>
            <a:srgbClr val="E4EFEA"/>
          </a:solidFill>
          <a:ln w="11430">
            <a:solidFill>
              <a:srgbClr val="14594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71216" y="1197864"/>
            <a:ext cx="3167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consent · provenance &amp; audit · RBAC · event log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6166658" y="11978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1536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contract surfaces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557847" y="1517904"/>
            <a:ext cx="2563091" cy="274320"/>
          </a:xfrm>
          <a:prstGeom prst="roundRect">
            <a:avLst>
              <a:gd name="adj" fmla="val 6667"/>
            </a:avLst>
          </a:prstGeom>
          <a:solidFill>
            <a:srgbClr val="DCE9DC"/>
          </a:solidFill>
          <a:ln w="11430">
            <a:solidFill>
              <a:srgbClr val="2F7D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40143" y="1545336"/>
            <a:ext cx="2398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façade · domain verbs + reason codes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6166658" y="15453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18836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· MVP product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070465" y="1865376"/>
            <a:ext cx="5126182" cy="274320"/>
          </a:xfrm>
          <a:prstGeom prst="roundRect">
            <a:avLst>
              <a:gd name="adj" fmla="val 6667"/>
            </a:avLst>
          </a:prstGeom>
          <a:solidFill>
            <a:srgbClr val="E7EEF6"/>
          </a:solidFill>
          <a:ln w="11430">
            <a:solidFill>
              <a:srgbClr val="2C5F8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52761" y="1892808"/>
            <a:ext cx="49615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portal · read-side projection · conform &amp; write · citizenEverything · directory adapter · referral · HRSN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9242367" y="18928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24.5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22311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7A5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· compliance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070465" y="2212848"/>
            <a:ext cx="4869873" cy="274320"/>
          </a:xfrm>
          <a:prstGeom prst="roundRect">
            <a:avLst>
              <a:gd name="adj" fmla="val 6667"/>
            </a:avLst>
          </a:prstGeom>
          <a:solidFill>
            <a:srgbClr val="EDE7F4"/>
          </a:solidFill>
          <a:ln w="11430">
            <a:solidFill>
              <a:srgbClr val="7A5CB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52761" y="2240280"/>
            <a:ext cx="47052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508 / WCAG 2.1 AA + VPAT · Tribal &amp; IHS data sovereignty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8986058" y="22402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5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25786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lane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88920" y="2560320"/>
            <a:ext cx="5895109" cy="274320"/>
          </a:xfrm>
          <a:prstGeom prst="roundRect">
            <a:avLst>
              <a:gd name="adj" fmla="val 6667"/>
            </a:avLst>
          </a:prstGeom>
          <a:solidFill>
            <a:srgbClr val="E7DCC2"/>
          </a:solidFill>
          <a:ln w="11430">
            <a:solidFill>
              <a:srgbClr val="A9741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871216" y="2587752"/>
            <a:ext cx="57305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HITRUST / SOC 2 evidence · penetration test · WaTech SDR + Privacy Threshold Analysis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8729749" y="25877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97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29260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onboarding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20938" y="2907792"/>
            <a:ext cx="3075709" cy="274320"/>
          </a:xfrm>
          <a:prstGeom prst="roundRect">
            <a:avLst>
              <a:gd name="adj" fmla="val 6667"/>
            </a:avLst>
          </a:prstGeom>
          <a:solidFill>
            <a:srgbClr val="E3E9F2"/>
          </a:solidFill>
          <a:ln w="11430">
            <a:solidFill>
              <a:srgbClr val="003B6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03234" y="2935224"/>
            <a:ext cx="29111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interoperability partners — a factory, not eight bespoke projects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9242367" y="29352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B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32735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management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88920" y="3255264"/>
            <a:ext cx="8458200" cy="274320"/>
          </a:xfrm>
          <a:prstGeom prst="roundRect">
            <a:avLst>
              <a:gd name="adj" fmla="val 6667"/>
            </a:avLst>
          </a:prstGeom>
          <a:solidFill>
            <a:srgbClr val="ECEDE8"/>
          </a:solidFill>
          <a:ln w="11430">
            <a:solidFill>
              <a:srgbClr val="5A6A6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871216" y="3282696"/>
            <a:ext cx="8293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deliverables · bi-weekly plan · monthly reports · RAID · governance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11292840" y="32826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566928" y="36210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· tier 2/3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196647" y="3602736"/>
            <a:ext cx="2050473" cy="274320"/>
          </a:xfrm>
          <a:prstGeom prst="roundRect">
            <a:avLst>
              <a:gd name="adj" fmla="val 6667"/>
            </a:avLst>
          </a:prstGeom>
          <a:solidFill>
            <a:srgbClr val="ECEDE8"/>
          </a:solidFill>
          <a:ln w="11430">
            <a:solidFill>
              <a:srgbClr val="5A6A6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278943" y="3630168"/>
            <a:ext cx="18858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Comagine owns tier 1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11292840" y="36301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566928" y="39684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4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88920" y="3950208"/>
            <a:ext cx="8458200" cy="274320"/>
          </a:xfrm>
          <a:prstGeom prst="roundRect">
            <a:avLst>
              <a:gd name="adj" fmla="val 6667"/>
            </a:avLst>
          </a:prstGeom>
          <a:solidFill>
            <a:srgbClr val="F6E7E2"/>
          </a:solidFill>
          <a:ln w="11430">
            <a:solidFill>
              <a:srgbClr val="B4462E"/>
            </a:solidFill>
            <a:prstDash val="dash"/>
          </a:ln>
        </p:spPr>
      </p:sp>
      <p:sp>
        <p:nvSpPr>
          <p:cNvPr id="52" name="Text 50"/>
          <p:cNvSpPr txBox="1"/>
          <p:nvPr/>
        </p:nvSpPr>
        <p:spPr>
          <a:xfrm>
            <a:off x="2871216" y="3977640"/>
            <a:ext cx="8293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B44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/ X12 / NCPDP spine · HCC/CDPS &amp; DRG groupers · HEDIS · total cost of care · CMS-0057-F · prior authorisation · Epic/Cerner SMART · ADF/Databricks · asset packaging  —  no WA CIE buyer at any phase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566928" y="44439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788920" y="4398264"/>
            <a:ext cx="8458200" cy="329184"/>
          </a:xfrm>
          <a:prstGeom prst="roundRect">
            <a:avLst>
              <a:gd name="adj" fmla="val 5556"/>
            </a:avLst>
          </a:prstGeom>
          <a:solidFill>
            <a:srgbClr val="E7DCC2"/>
          </a:solidFill>
          <a:ln w="12700">
            <a:solidFill>
              <a:srgbClr val="E7DCC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47786" y="4480560"/>
            <a:ext cx="146304" cy="164592"/>
          </a:xfrm>
          <a:prstGeom prst="diamond">
            <a:avLst/>
          </a:prstGeom>
          <a:solidFill>
            <a:srgbClr val="2F6DB4"/>
          </a:solidFill>
          <a:ln w="12700">
            <a:solidFill>
              <a:srgbClr val="2F6DB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389418" y="41788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F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frozen wk14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8610877" y="4480560"/>
            <a:ext cx="146304" cy="164592"/>
          </a:xfrm>
          <a:prstGeom prst="diamond">
            <a:avLst/>
          </a:prstGeom>
          <a:solidFill>
            <a:srgbClr val="A9741A"/>
          </a:solidFill>
          <a:ln w="12700">
            <a:solidFill>
              <a:srgbClr val="A9741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358149" y="41788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A97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 passed wk24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9123495" y="4480560"/>
            <a:ext cx="146304" cy="164592"/>
          </a:xfrm>
          <a:prstGeom prst="diamond">
            <a:avLst/>
          </a:prstGeom>
          <a:solidFill>
            <a:srgbClr val="14594B"/>
          </a:solidFill>
          <a:ln w="12700">
            <a:solidFill>
              <a:srgbClr val="14594B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251511" y="41788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GO-LIVE wk26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1173968" y="4480560"/>
            <a:ext cx="146304" cy="164592"/>
          </a:xfrm>
          <a:prstGeom prst="diamond">
            <a:avLst/>
          </a:prstGeom>
          <a:solidFill>
            <a:srgbClr val="5A6A62"/>
          </a:solidFill>
          <a:ln w="12700">
            <a:solidFill>
              <a:srgbClr val="5A6A6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921240" y="41788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impl. ends wk34</a:t>
            </a:r>
            <a:endParaRPr lang="en-US" sz="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736592"/>
          <a:ext cx="11057839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548640"/>
                <a:gridCol w="621792"/>
                <a:gridCol w="775411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FTE-mo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LANDS, AND WHEN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459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irreversible write path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◆ Stable CIE identifier, permanent source-ID retention, non-destructive merge/unmerge with link history and a stewardship queue.  ◆ Full R4 consent provision shape, enforcement at the data layer, revoke-not-delete, securityLabel from the first record.  ◆ Provenance per write and cross-org read audit.  ◆ Durable event log — stable types, idempotency, ordering.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contract surfaces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◆ Owned, versioned integration façade profiled to US Core + SDOHCC.  ◆ Domain-verb mutations with the statewide reason-code vocabulary.  — Both land BEFORE the first partner integrates; once 6–8 organisations hold production integrations the surface cannot be taken away.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 · MVP product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6–26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◆ Participant portal extended to worker roles — match adjudication, record view, consent capture, HRSN screening, referral create/receive/track/close, directory search, org admin.  ◆ Read-side projection with operational counts and a participant extract.  ◆ citizenEverything resolver.  ◆ Directory federation adapter.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A5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4 + certification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◆ 508 / WCAG 2.1 AA, VPAT / ACR and remediation.  ◆ Tribal and IHS data sovereignty — 29 federally recognised tribes.  ◆ HITRUST r2 and SOC 2 evidence, penetration test, WaTech SDR and Privacy Threshold Analysis — a pre-condition of launch with an immediate-termination trigger.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3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· PM · operations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1–34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1621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◆ 6–8 partners in production at go-live, run as a repeatable factory with a per-partner acceptance milestone.  ◆ 23 deliverables, bi-weekly plan updates, monthly reports, RAID.  ◆ Tier-2/3 support from go-live; Comagine owns tier 1.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4" name="Text 61"/>
          <p:cNvSpPr txBox="1"/>
          <p:nvPr/>
        </p:nvSpPr>
        <p:spPr>
          <a:xfrm>
            <a:off x="566928" y="6620256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Consulting · Health &amp; Human Services  ·  WA CIE CY2027 MVP  ·  71.5 FTE-months · $3,157,625 delivered cost · ties to the Gantt and Staffing tabs  ·  US-only delivery per RFP Sec. 3.6.4  ·  illustrative rates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658368" cy="566928"/>
          </a:xfrm>
          <a:prstGeom prst="roundRect">
            <a:avLst>
              <a:gd name="adj" fmla="val 19355"/>
            </a:avLst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5029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435608" y="38404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Executive Ask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418527" y="4023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two years → renewal options → decide this quarter</a:t>
            </a:r>
            <a:endParaRPr lang="en-US" sz="10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A6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 CIE · proposal due 23 October 2026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9728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  </a:t>
            </a:r>
            <a:pPr indent="0" marL="0">
              <a:buNone/>
            </a:pPr>
            <a:r>
              <a:rPr lang="en-US" sz="850" i="1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Connect360 is live, deployed on Azure and Marketplace-listed, with a real HIE integration in production · WPCO supplies the governed intelligence layer. US-ONLY DELIVERY per RFP Sec. 3.6.4 — the prior 54.3% offshore blend is void for this bid and every figure below is repriced.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" y="1463040"/>
            <a:ext cx="182880" cy="18288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47675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14264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TWO-YEAR TERM — CY2027–28   </a:t>
            </a:r>
            <a:pPr indent="0" marL="0">
              <a:buNone/>
            </a:pPr>
            <a:r>
              <a:rPr lang="en-US" sz="1100" b="1" spc="4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the only years Washington commits 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1783080"/>
            <a:ext cx="6583680" cy="98755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63240" y="19019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Committed term — MVP + Phase 2</a:t>
            </a:r>
            <a:pPr indent="0" marL="0">
              <a:buNone/>
            </a:pPr>
            <a:r>
              <a:rPr lang="en-US" sz="1350" b="1" dirty="0">
                <a:solidFill>
                  <a:srgbClr val="16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                 $6.70m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212848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85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CY2027 MVP $3.51M (71.5 FTE-mo) — identity, consent, client record, referral, directory, operational reporting, participant portal, 6–8 partners.  CY2028 Phase 2 $3.19M (65.0 FTE-mo) — shared care plan, granular consent, population &amp; equity analytics.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" y="2999232"/>
            <a:ext cx="182880" cy="182880"/>
          </a:xfrm>
          <a:prstGeom prst="ellipse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0129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296265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" kern="0" dirty="0">
                <a:solidFill>
                  <a:srgbClr val="145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RENEWAL OPTIONS — CY2029–31   </a:t>
            </a:r>
            <a:pPr indent="0" marL="0">
              <a:buNone/>
            </a:pPr>
            <a:r>
              <a:rPr lang="en-US" sz="1100" b="1" spc="4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 Comagine’s sole discretion · no right or expectation of renewal)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310128"/>
            <a:ext cx="3564026" cy="310896"/>
          </a:xfrm>
          <a:prstGeom prst="roundRect">
            <a:avLst>
              <a:gd name="adj" fmla="val 5882"/>
            </a:avLst>
          </a:prstGeom>
          <a:solidFill>
            <a:srgbClr val="2C5F8A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3355848"/>
            <a:ext cx="22838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CY2029 · Phase 3 begins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896514" y="3337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$3.23M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621024"/>
            <a:ext cx="3564026" cy="786384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3712464"/>
            <a:ext cx="327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notification ingest and exchange, the knowledge graph rebuilt by replaying the MVP event log, journey engine, WPC context ranking behind the existing seam.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313834" y="3310128"/>
            <a:ext cx="3564026" cy="310896"/>
          </a:xfrm>
          <a:prstGeom prst="roundRect">
            <a:avLst>
              <a:gd name="adj" fmla="val 5882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60138" y="3355848"/>
            <a:ext cx="22838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CY2030 · Real-time &amp; inference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643421" y="3337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$2.98M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13834" y="3621024"/>
            <a:ext cx="3564026" cy="786384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60138" y="3712464"/>
            <a:ext cx="327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dispatch, signal dispositioning engine, graph inference and household linkage, enrollment verification, remaining change subscriptions.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060741" y="3310128"/>
            <a:ext cx="3564026" cy="310896"/>
          </a:xfrm>
          <a:prstGeom prst="roundRect">
            <a:avLst>
              <a:gd name="adj" fmla="val 5882"/>
            </a:avLst>
          </a:prstGeom>
          <a:solidFill>
            <a:srgbClr val="7A5CB0"/>
          </a:solidFill>
          <a:ln w="12700">
            <a:solidFill>
              <a:srgbClr val="7A5CB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07045" y="3355848"/>
            <a:ext cx="22838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CY2031 · Agents &amp; maturation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390327" y="3337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$2.90M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60741" y="3621024"/>
            <a:ext cx="3564026" cy="786384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E2E4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07045" y="3712464"/>
            <a:ext cx="327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16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agents over the MVP domain verbs and actor model, care-plan intelligence, forecasting and equity monitoring, advanced consent interoperability.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66928" y="4553712"/>
            <a:ext cx="11057839" cy="566928"/>
          </a:xfrm>
          <a:prstGeom prst="roundRect">
            <a:avLst>
              <a:gd name="adj" fmla="val 3226"/>
            </a:avLst>
          </a:prstGeom>
          <a:solidFill>
            <a:srgbClr val="3A2E6B"/>
          </a:solidFill>
          <a:ln w="12700">
            <a:solidFill>
              <a:srgbClr val="3A2E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8096" y="47000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Operations, support &amp; recertification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904488" y="4709160"/>
            <a:ext cx="1005840" cy="256032"/>
          </a:xfrm>
          <a:prstGeom prst="roundRect">
            <a:avLst>
              <a:gd name="adj" fmla="val 42857"/>
            </a:avLst>
          </a:prstGeom>
          <a:solidFill>
            <a:srgbClr val="675E8D"/>
          </a:solidFill>
          <a:ln w="9525">
            <a:solidFill>
              <a:srgbClr val="9A8FB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04488" y="47548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650" dirty="0"/>
          </a:p>
        </p:txBody>
      </p:sp>
      <p:sp>
        <p:nvSpPr>
          <p:cNvPr id="35" name="Text 33"/>
          <p:cNvSpPr txBox="1"/>
          <p:nvPr/>
        </p:nvSpPr>
        <p:spPr>
          <a:xfrm>
            <a:off x="5093208" y="4645152"/>
            <a:ext cx="52513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D6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Tier-2/3 application support, defect resolution and root-cause analysis; annual HITRUST and SOC 2 recertification and penetration testing; governance participation. Comagine owns tier 1. Runs from MVP go-live to the end of the programme — inside each year, not a separate ask.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10481767" y="47548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8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26 → end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66928" y="5248656"/>
            <a:ext cx="11057839" cy="420624"/>
          </a:xfrm>
          <a:prstGeom prst="roundRect">
            <a:avLst>
              <a:gd name="adj" fmla="val 4348"/>
            </a:avLst>
          </a:prstGeom>
          <a:solidFill>
            <a:srgbClr val="E3EFE9"/>
          </a:solidFill>
          <a:ln w="9525">
            <a:solidFill>
              <a:srgbClr val="BBD6C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2960" y="5349240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FIVE-YEAR EVALUATED PRICE  =  $15.81M   </a:t>
            </a:r>
            <a:pPr indent="0" marL="0">
              <a:buNone/>
            </a:pPr>
            <a:r>
              <a:rPr lang="en-US" sz="950" dirty="0">
                <a:solidFill>
                  <a:srgbClr val="16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$17.3M envelope  ·  $1.49M headroom  ·  CY2027 is the only year over its ceiling: −$108,472 at a 10% margin, and it fits at roughly 7%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5797296"/>
            <a:ext cx="11057839" cy="786384"/>
          </a:xfrm>
          <a:prstGeom prst="roundRect">
            <a:avLst>
              <a:gd name="adj" fmla="val 232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59536" y="5907024"/>
            <a:ext cx="104726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6B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REQUESTED THIS QUARTER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59536" y="6163056"/>
            <a:ext cx="104726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6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six gate tests — they decide $2,205,000 of CY2027 scope and none costs more than a day  ·  settle the teaming structure on HITRUST and SOC 2, which changes Submittal Form A  ·  approve the bid at a thin CY2027 margin recovered in the later years  ·  submit the two written questions to Comagine by 9 October.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6638544"/>
            <a:ext cx="110578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Consulting · Health &amp; Human Services  ·  The Executive Ask  ·  ties to the Cost by Scope tab ($15,809,306)  ·  US-only delivery per RFP Sec. 3.6.4  ·  rates are assumptions pending the rate card  ·  estimate class 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 CIE — Delivery Timeline &amp; Executive Ask</dc:title>
  <dc:subject>PptxGenJS Presentation</dc:subject>
  <dc:creator>IBM Consulting</dc:creator>
  <cp:lastModifiedBy>IBM Consulting</cp:lastModifiedBy>
  <cp:revision>1</cp:revision>
  <dcterms:created xsi:type="dcterms:W3CDTF">2026-09-17T04:12:43Z</dcterms:created>
  <dcterms:modified xsi:type="dcterms:W3CDTF">2026-09-17T04:12:43Z</dcterms:modified>
</cp:coreProperties>
</file>