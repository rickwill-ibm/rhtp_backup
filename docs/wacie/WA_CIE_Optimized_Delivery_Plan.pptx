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72B3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72B3A"/>
                </a:solidFill>
                <a:latin typeface="Arial"/>
              </a:rPr>
              <a:t>CY2027 price by gross margin, against the $3.4M ceiling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Configuration case</c:v>
                </c:pt>
              </c:strCache>
            </c:strRef>
          </c:tx>
          <c:spPr>
            <a:solidFill>
              <a:srgbClr val="1889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5%</c:v>
                  </c:pt>
                  <c:pt idx="1">
                    <c:v>7.5%</c:v>
                  </c:pt>
                  <c:pt idx="2">
                    <c:v>10%</c:v>
                  </c:pt>
                  <c:pt idx="3">
                    <c:v>15%</c:v>
                  </c:pt>
                  <c:pt idx="4">
                    <c:v>20%</c:v>
                  </c:pt>
                  <c:pt idx="5">
                    <c:v>25%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3323816</c:v>
                </c:pt>
                <c:pt idx="1">
                  <c:v>3413649</c:v>
                </c:pt>
                <c:pt idx="2">
                  <c:v>3508472</c:v>
                </c:pt>
                <c:pt idx="3">
                  <c:v>3714853</c:v>
                </c:pt>
                <c:pt idx="4">
                  <c:v>3947031</c:v>
                </c:pt>
                <c:pt idx="5">
                  <c:v>4210167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Construction case</c:v>
                </c:pt>
              </c:strCache>
            </c:strRef>
          </c:tx>
          <c:spPr>
            <a:solidFill>
              <a:srgbClr val="B446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5%</c:v>
                  </c:pt>
                  <c:pt idx="1">
                    <c:v>7.5%</c:v>
                  </c:pt>
                  <c:pt idx="2">
                    <c:v>10%</c:v>
                  </c:pt>
                  <c:pt idx="3">
                    <c:v>15%</c:v>
                  </c:pt>
                  <c:pt idx="4">
                    <c:v>20%</c:v>
                  </c:pt>
                  <c:pt idx="5">
                    <c:v>25%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7695132</c:v>
                </c:pt>
                <c:pt idx="1">
                  <c:v>7903108</c:v>
                </c:pt>
                <c:pt idx="2">
                  <c:v>8122639</c:v>
                </c:pt>
                <c:pt idx="3">
                  <c:v>8600441</c:v>
                </c:pt>
                <c:pt idx="4">
                  <c:v>9137969</c:v>
                </c:pt>
                <c:pt idx="5">
                  <c:v>9747167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36978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536978"/>
                    </a:solidFill>
                    <a:latin typeface="Arial"/>
                  </a:rPr>
                  <a:t>Gross margin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369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E6ED"/>
              </a:solidFill>
              <a:prstDash val="solid"/>
              <a:round/>
            </a:ln>
          </c:spPr>
        </c:majorGridlines>
        <c:numFmt formatCode="$#,##0,,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369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806440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5806440" y="0"/>
            <a:ext cx="6385255" cy="6858000"/>
          </a:xfrm>
          <a:prstGeom prst="rect">
            <a:avLst/>
          </a:prstGeom>
          <a:solidFill>
            <a:srgbClr val="188977"/>
          </a:solidFill>
          <a:ln/>
        </p:spPr>
      </p:sp>
      <p:sp>
        <p:nvSpPr>
          <p:cNvPr id="4" name="Shape 2"/>
          <p:cNvSpPr/>
          <p:nvPr/>
        </p:nvSpPr>
        <p:spPr>
          <a:xfrm>
            <a:off x="8732520" y="1143000"/>
            <a:ext cx="1417320" cy="1417320"/>
          </a:xfrm>
          <a:prstGeom prst="ellipse">
            <a:avLst/>
          </a:prstGeom>
          <a:solidFill>
            <a:srgbClr val="2FA98F"/>
          </a:solidFill>
          <a:ln w="12700">
            <a:solidFill>
              <a:srgbClr val="2FA9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21240" y="2880360"/>
            <a:ext cx="868680" cy="868680"/>
          </a:xfrm>
          <a:prstGeom prst="ellipse">
            <a:avLst/>
          </a:prstGeom>
          <a:solidFill>
            <a:srgbClr val="56BFA8"/>
          </a:solidFill>
          <a:ln w="12700">
            <a:solidFill>
              <a:srgbClr val="56B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26680" y="3977640"/>
            <a:ext cx="1783080" cy="1783080"/>
          </a:xfrm>
          <a:prstGeom prst="ellipse">
            <a:avLst/>
          </a:prstGeom>
          <a:solidFill>
            <a:srgbClr val="0E6E5C"/>
          </a:solidFill>
          <a:ln w="12700">
            <a:solidFill>
              <a:srgbClr val="0E6E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20840" y="2011680"/>
            <a:ext cx="4206240" cy="3017520"/>
          </a:xfrm>
          <a:prstGeom prst="line">
            <a:avLst/>
          </a:prstGeom>
          <a:noFill/>
          <a:ln w="13970">
            <a:solidFill>
              <a:srgbClr val="8FD8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20840" y="3200400"/>
            <a:ext cx="4206240" cy="2194560"/>
          </a:xfrm>
          <a:prstGeom prst="line">
            <a:avLst/>
          </a:prstGeom>
          <a:noFill/>
          <a:ln w="13970">
            <a:solidFill>
              <a:srgbClr val="8FD8C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60020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Washington Community</a:t>
            </a:r>
            <a:endParaRPr lang="en-US" sz="29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Information Exchange</a:t>
            </a:r>
            <a:endParaRPr lang="en-US" sz="29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1272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delivery plan — joint Connect360 + WPCO response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67588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CIE-scoped, US-only priced, and sequenced to the annual funding ceilings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5760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9C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 of the ACE / WHPC delivery plan  ·  proposal due 23 October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B3A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Executive verdict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0467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re-scoped plan fits the five-year envelope. One year is tight, and one condition decides whether it is deliverable at all.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3533546" cy="1691640"/>
          </a:xfrm>
          <a:prstGeom prst="roundRect">
            <a:avLst>
              <a:gd name="adj" fmla="val 2162"/>
            </a:avLst>
          </a:prstGeom>
          <a:solidFill>
            <a:srgbClr val="DFF4F1"/>
          </a:solidFill>
          <a:ln w="9525">
            <a:solidFill>
              <a:srgbClr val="DFF4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81328"/>
            <a:ext cx="30763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8977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$15.81M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84832"/>
            <a:ext cx="30763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five-year price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30763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 a $17.3M envelope — $1.49M of headroom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29074" y="1325880"/>
            <a:ext cx="3533546" cy="1691640"/>
          </a:xfrm>
          <a:prstGeom prst="roundRect">
            <a:avLst>
              <a:gd name="adj" fmla="val 2162"/>
            </a:avLst>
          </a:prstGeom>
          <a:solidFill>
            <a:srgbClr val="F7F4EC"/>
          </a:solidFill>
          <a:ln w="9525">
            <a:solidFill>
              <a:srgbClr val="F7F4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5106" y="1481328"/>
            <a:ext cx="30763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59B2D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−$108,472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585106" y="2084832"/>
            <a:ext cx="30763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CY2027 at 10% margin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585106" y="2377440"/>
            <a:ext cx="30763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year over its ceiling; it fits at about 7%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091221" y="1325880"/>
            <a:ext cx="3533546" cy="1691640"/>
          </a:xfrm>
          <a:prstGeom prst="roundRect">
            <a:avLst>
              <a:gd name="adj" fmla="val 2162"/>
            </a:avLst>
          </a:prstGeom>
          <a:solidFill>
            <a:srgbClr val="F7EBE7"/>
          </a:solidFill>
          <a:ln w="9525">
            <a:solidFill>
              <a:srgbClr val="F7EB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47253" y="1481328"/>
            <a:ext cx="30763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4462E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$4.7M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347253" y="2084832"/>
            <a:ext cx="30763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construction-case gap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347253" y="2377440"/>
            <a:ext cx="30763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platform gaps must be built, no pricing structure recovers CY2027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6928" y="3246120"/>
            <a:ext cx="11057839" cy="1005840"/>
          </a:xfrm>
          <a:prstGeom prst="roundRect">
            <a:avLst>
              <a:gd name="adj" fmla="val 3636"/>
            </a:avLst>
          </a:prstGeom>
          <a:solidFill>
            <a:srgbClr val="F5F8FA"/>
          </a:solidFill>
          <a:ln w="9525">
            <a:solidFill>
              <a:srgbClr val="D8E6E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3401568"/>
            <a:ext cx="105091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7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Recommendation. 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7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 it on the configuration case, at a thin year-one margin recovered in CY2028–31 where there is headroom — and run six tests before Submittal Form F is priced. Those six tests, none costing more than a day, decide $2,205,000 of CY2027 scope.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434840"/>
          <a:ext cx="11057839" cy="914400"/>
        </p:xfrm>
        <a:graphic>
          <a:graphicData uri="http://schemas.openxmlformats.org/drawingml/2006/table">
            <a:tbl>
              <a:tblPr/>
              <a:tblGrid>
                <a:gridCol w="5528920"/>
                <a:gridCol w="552892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this plan is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is not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CIE-scoped delivery plan for a joint Connect360 + WPCO response: configuration, integration, implementation and operations of a platform that exists before contract signature.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 is not the payer asset build. Roughly $2.35M of named scope in the prior plan has no WA CIE buyer at any phase and has been deleted rather than deferred.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566928" y="6419088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 CIE optimized delivery plan  |  joint Connect360 + WPCO response  |  17 Sep 2026</a:t>
            </a:r>
            <a:endParaRPr lang="en-US" sz="750" dirty="0"/>
          </a:p>
        </p:txBody>
      </p:sp>
      <p:sp>
        <p:nvSpPr>
          <p:cNvPr id="20" name="Text 17"/>
          <p:cNvSpPr txBox="1"/>
          <p:nvPr/>
        </p:nvSpPr>
        <p:spPr>
          <a:xfrm>
            <a:off x="11076127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B3A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Two decisions reshaped the plan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0467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are read directly from the RFP. Together they move the estimate more than any sequencing choice.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280160"/>
            <a:ext cx="5368900" cy="3429000"/>
          </a:xfrm>
          <a:prstGeom prst="roundRect">
            <a:avLst>
              <a:gd name="adj" fmla="val 1067"/>
            </a:avLst>
          </a:prstGeom>
          <a:solidFill>
            <a:srgbClr val="E8F3F8"/>
          </a:solidFill>
          <a:ln w="9525">
            <a:solidFill>
              <a:srgbClr val="E8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463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AB4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1874520"/>
            <a:ext cx="48202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B3A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No offshore content is permitted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286000"/>
            <a:ext cx="48202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50" i="1" dirty="0">
                <a:solidFill>
                  <a:srgbClr val="2B4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RFP Sec. 3.6.4 — "All services under the resulting contract, by the Contractor and any Subcontractors at any tier, must be performed within the United States or its territories."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035808"/>
            <a:ext cx="48202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17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prior estimate’s 54.3% offshore blend is void for this bid.</a:t>
            </a:r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17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Repriced at onshore premium, the prior committed figure moves from $5,093,845 to $8,023,500, and Position B from $6,316,265 to $10,573,650. This plan is priced at a blended $36,750 per FTE-month.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55868" y="1280160"/>
            <a:ext cx="5368900" cy="3429000"/>
          </a:xfrm>
          <a:prstGeom prst="roundRect">
            <a:avLst>
              <a:gd name="adj" fmla="val 1067"/>
            </a:avLst>
          </a:prstGeom>
          <a:solidFill>
            <a:srgbClr val="F7F4EC"/>
          </a:solidFill>
          <a:ln w="9525">
            <a:solidFill>
              <a:srgbClr val="F7F4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0188" y="1463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59B2D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530188" y="1874520"/>
            <a:ext cx="48202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B3A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The plan was built for a payer; the buyer is a CIE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30188" y="2286000"/>
            <a:ext cx="48202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50" i="1" dirty="0">
                <a:solidFill>
                  <a:srgbClr val="5A4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occurrences of claims adjudication, 837/835, HCC/CDPS, DRG grouping, HEDIS, prior authorisation, CMS-0057-F or payer-to-payer exchange appear anywhere in the RFP, the Concept of Operations or the 212 requirements.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530188" y="3154680"/>
            <a:ext cx="48202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00" b="1" dirty="0">
                <a:solidFill>
                  <a:srgbClr val="17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X12 appears once,</a:t>
            </a:r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17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one of several payload formats an adapter must transform, with "or equivalent" in the acceptance criterion. That is an adapter, not a claims spine.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" y="4983480"/>
            <a:ext cx="11057839" cy="868680"/>
          </a:xfrm>
          <a:prstGeom prst="roundRect">
            <a:avLst>
              <a:gd name="adj" fmla="val 4211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86968" y="5230368"/>
            <a:ext cx="104177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Consequence: deletion, not deferral. Deferral moves cost; deletion removes it — and only deletion makes $3.4M a year work.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6419088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 CIE optimized delivery plan  |  joint Connect360 + WPCO response  |  17 Sep 2026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11076127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B3A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The RFP inverts the plan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0467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payer plan schedules population analytics early and referrals late. The procurement does the opposite, in writing.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80160"/>
          <a:ext cx="11057839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868680"/>
                <a:gridCol w="2651760"/>
                <a:gridCol w="2971800"/>
                <a:gridCol w="1280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 family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MVP reqs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RFP phase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 plan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Referral management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MVP — 30 Jun 2027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44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Wave 4, wk 34–42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889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CY2027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record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MVP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Wave 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889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CY2027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Consent management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MVP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Wave 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889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CY2027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Resource directory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MVP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44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Wave 4, wk 46–54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889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CY2027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Care coordination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MVP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Wave 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889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CY2027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Identity &amp; access management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MVP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Wave 1 (no role model exists)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889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CY2027 — grows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Reporting &amp; analytics — operational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MVP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Wave 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889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CY2027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Population &amp; equity analytics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2, named in writing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44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Wave 2, wk 18 — first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4AB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CY2028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 notification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Wave 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4AB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CY2029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Client-facing portal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Wave 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44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Does not fit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557784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5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 of 146 functional requirements carry a Phase 1 / MVP tag and are due 30 June 2027. All 66 non-functional requirements are MVP — security, consent segmentation, access control, audit, accessibility and 99.5% API availability apply from day one with no ramp.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6419088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 CIE optimized delivery plan  |  joint Connect360 + WPCO response  |  17 Sep 2026</a:t>
            </a:r>
            <a:endParaRPr lang="en-US" sz="750" dirty="0"/>
          </a:p>
        </p:txBody>
      </p:sp>
      <p:sp>
        <p:nvSpPr>
          <p:cNvPr id="7" name="Text 4"/>
          <p:cNvSpPr txBox="1"/>
          <p:nvPr/>
        </p:nvSpPr>
        <p:spPr>
          <a:xfrm>
            <a:off x="11076127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B3A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What moved out — deletion, not deferral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0467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deletions total $2,354,350. The unnamed payer scope inside Wave 1 is larger again.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80160"/>
          <a:ext cx="11057839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1463040"/>
                <a:gridCol w="4123944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Deleted from the plan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it has no WA CIE buyer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Prior-Auth / Coverage / Financial Clearance bucket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B44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$1,004,750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Payer utilisation management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CMS-0057-F bucket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B44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$545,050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CIE is not an impacted payer under the rule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Epic / Cerner SMART launch + CDS Hooks write-back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B44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$506,250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MVP partners are CBO and HMIS systems more than EHRs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ADF / Databricks secondary path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B44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$298,300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reusable-asset hedge for Databricks-native payer clients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Claims / X12 / NCPDP spine, SNIP, corrections and voids, coding verification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~58 Gantt wks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claims adjudication anywhere in scope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HCC/CDPS+Rx, DRG/APR-DRG, episode groupers; RAF stratification and coding gaps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Payer risk adjustment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HEDIS / Stars / MIPS load to Measure / MeasureReport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 measurement is a payer function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cost of care, gain-share, braided funding, executive finance dashboard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Payer financial analytics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Dual-backend abstraction, tenant-onboarding automation, asset packaging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investment, not bid scope. One hosted deployment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5376672"/>
            <a:ext cx="11057839" cy="658368"/>
          </a:xfrm>
          <a:prstGeom prst="roundRect">
            <a:avLst>
              <a:gd name="adj" fmla="val 5556"/>
            </a:avLst>
          </a:prstGeom>
          <a:solidFill>
            <a:srgbClr val="DFF4F1"/>
          </a:solidFill>
          <a:ln w="9525">
            <a:solidFill>
              <a:srgbClr val="DFF4F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9536" y="5559552"/>
            <a:ext cx="104726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4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line of the original plan carries a disposition and a reason in the workbook’s Revision log: KEEP · MOVE · REDUCE · SPLIT · RESHAPE · DEFER · DELETE · ADD.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6419088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 CIE optimized delivery plan  |  joint Connect360 + WPCO response  |  17 Sep 2026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11076127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B3A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What moved in — twelve workstreams the plan did not contain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0467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one is either contractually required, architecturally irreversible, or was withdrawn in error from the prior estimate.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280160"/>
            <a:ext cx="3533546" cy="1133856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8E6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463040"/>
            <a:ext cx="146304" cy="146304"/>
          </a:xfrm>
          <a:prstGeom prst="ellipse">
            <a:avLst/>
          </a:prstGeom>
          <a:solidFill>
            <a:srgbClr val="188977"/>
          </a:solidFill>
          <a:ln w="12700">
            <a:solidFill>
              <a:srgbClr val="18897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87552" y="1399032"/>
            <a:ext cx="29300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72B3A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Participant portal, worker-facing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1764792"/>
            <a:ext cx="313121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worker UI exists in Connect360 — only API surface — and the prior staffing model had no front-end engineering role at all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329074" y="1280160"/>
            <a:ext cx="3533546" cy="1133856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8E6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30242" y="1463040"/>
            <a:ext cx="146304" cy="146304"/>
          </a:xfrm>
          <a:prstGeom prst="ellipse">
            <a:avLst/>
          </a:prstGeom>
          <a:solidFill>
            <a:srgbClr val="188977"/>
          </a:solidFill>
          <a:ln w="12700">
            <a:solidFill>
              <a:srgbClr val="18897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49698" y="1399032"/>
            <a:ext cx="29300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72B3A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RBAC &amp; delegated org administration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30242" y="1764792"/>
            <a:ext cx="313121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role or permission type appears in the 553 introspected types. IAM is a named MVP capability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091221" y="1280160"/>
            <a:ext cx="3533546" cy="1133856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8E6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92389" y="1463040"/>
            <a:ext cx="146304" cy="146304"/>
          </a:xfrm>
          <a:prstGeom prst="ellipse">
            <a:avLst/>
          </a:prstGeom>
          <a:solidFill>
            <a:srgbClr val="0F4AB4"/>
          </a:solidFill>
          <a:ln w="12700">
            <a:solidFill>
              <a:srgbClr val="0F4AB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11845" y="1399032"/>
            <a:ext cx="29300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72B3A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Event publication contract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292389" y="1764792"/>
            <a:ext cx="313121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keystone: stable type vocabulary, idempotency, ordering, 3–5 subscriptions exposed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66928" y="2542032"/>
            <a:ext cx="3533546" cy="1133856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8E6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" y="2724912"/>
            <a:ext cx="146304" cy="146304"/>
          </a:xfrm>
          <a:prstGeom prst="ellipse">
            <a:avLst/>
          </a:prstGeom>
          <a:solidFill>
            <a:srgbClr val="0F4AB4"/>
          </a:solidFill>
          <a:ln w="12700">
            <a:solidFill>
              <a:srgbClr val="0F4AB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87552" y="2660904"/>
            <a:ext cx="29300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72B3A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Owned, versioned integration façade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" y="3026664"/>
            <a:ext cx="313121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make another vendor’s internal schema the State’s public integration contract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329074" y="2542032"/>
            <a:ext cx="3533546" cy="1133856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8E6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30242" y="2724912"/>
            <a:ext cx="146304" cy="146304"/>
          </a:xfrm>
          <a:prstGeom prst="ellipse">
            <a:avLst/>
          </a:prstGeom>
          <a:solidFill>
            <a:srgbClr val="0F4AB4"/>
          </a:solidFill>
          <a:ln w="12700">
            <a:solidFill>
              <a:srgbClr val="0F4AB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49698" y="2660904"/>
            <a:ext cx="29300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72B3A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Domain verbs + reason codes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530242" y="3026664"/>
            <a:ext cx="313121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CRUD on Task guarantees drift across a federation of independent organisations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8091221" y="2542032"/>
            <a:ext cx="3533546" cy="1133856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8E6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92389" y="2724912"/>
            <a:ext cx="146304" cy="146304"/>
          </a:xfrm>
          <a:prstGeom prst="ellipse">
            <a:avLst/>
          </a:prstGeom>
          <a:solidFill>
            <a:srgbClr val="0F4AB4"/>
          </a:solidFill>
          <a:ln w="12700">
            <a:solidFill>
              <a:srgbClr val="0F4AB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11845" y="2660904"/>
            <a:ext cx="29300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72B3A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Read-side reporting projection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292389" y="3026664"/>
            <a:ext cx="313121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proxy blocks cheap aggregates, so no count is answerable from the FHIR path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66928" y="3803904"/>
            <a:ext cx="3533546" cy="1133856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8E6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8096" y="3986784"/>
            <a:ext cx="146304" cy="146304"/>
          </a:xfrm>
          <a:prstGeom prst="ellipse">
            <a:avLst/>
          </a:prstGeom>
          <a:solidFill>
            <a:srgbClr val="0F4AB4"/>
          </a:solidFill>
          <a:ln w="12700">
            <a:solidFill>
              <a:srgbClr val="0F4AB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87552" y="3922776"/>
            <a:ext cx="29300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72B3A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citizenEverything resolver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68096" y="4288536"/>
            <a:ext cx="313121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resolvers fan out N+1 on the most-loaded screen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329074" y="3803904"/>
            <a:ext cx="3533546" cy="1133856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8E6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30242" y="3986784"/>
            <a:ext cx="146304" cy="146304"/>
          </a:xfrm>
          <a:prstGeom prst="ellipse">
            <a:avLst/>
          </a:prstGeom>
          <a:solidFill>
            <a:srgbClr val="D59B2D"/>
          </a:solidFill>
          <a:ln w="12700">
            <a:solidFill>
              <a:srgbClr val="D59B2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749698" y="3922776"/>
            <a:ext cx="29300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72B3A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Certification lane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530242" y="4288536"/>
            <a:ext cx="313121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HITRUST r2, SOC 2 Type II, pen test, WaTech SDR and PTA — a pre-condition of launch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091221" y="3803904"/>
            <a:ext cx="3533546" cy="1133856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8E6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92389" y="3986784"/>
            <a:ext cx="146304" cy="146304"/>
          </a:xfrm>
          <a:prstGeom prst="ellipse">
            <a:avLst/>
          </a:prstGeom>
          <a:solidFill>
            <a:srgbClr val="D59B2D"/>
          </a:solidFill>
          <a:ln w="12700">
            <a:solidFill>
              <a:srgbClr val="D59B2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11845" y="3922776"/>
            <a:ext cx="29300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72B3A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Accessibility — 508 / WCAG 2.1 AA, VPAT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292389" y="4288536"/>
            <a:ext cx="313121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Absent from the entire prior pack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66928" y="5065776"/>
            <a:ext cx="3533546" cy="1133856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8E6E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8096" y="5248656"/>
            <a:ext cx="146304" cy="146304"/>
          </a:xfrm>
          <a:prstGeom prst="ellipse">
            <a:avLst/>
          </a:prstGeom>
          <a:solidFill>
            <a:srgbClr val="D59B2D"/>
          </a:solidFill>
          <a:ln w="12700">
            <a:solidFill>
              <a:srgbClr val="D59B2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87552" y="5184648"/>
            <a:ext cx="29300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72B3A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Section 1557 language access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768096" y="5550408"/>
            <a:ext cx="313121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Absent from the entire prior pack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329074" y="5065776"/>
            <a:ext cx="3533546" cy="1133856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8E6E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30242" y="5248656"/>
            <a:ext cx="146304" cy="146304"/>
          </a:xfrm>
          <a:prstGeom prst="ellipse">
            <a:avLst/>
          </a:prstGeom>
          <a:solidFill>
            <a:srgbClr val="6157A6"/>
          </a:solidFill>
          <a:ln w="12700">
            <a:solidFill>
              <a:srgbClr val="6157A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749698" y="5184648"/>
            <a:ext cx="29300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72B3A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Tribal &amp; IHS data sovereignty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4530242" y="5550408"/>
            <a:ext cx="313121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RESTORED — withdrawn as "geography-specific". Washington has 29 federally recognised tribes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8091221" y="5065776"/>
            <a:ext cx="3533546" cy="1133856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8E6E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292389" y="5248656"/>
            <a:ext cx="146304" cy="146304"/>
          </a:xfrm>
          <a:prstGeom prst="ellipse">
            <a:avLst/>
          </a:prstGeom>
          <a:solidFill>
            <a:srgbClr val="6157A6"/>
          </a:solidFill>
          <a:ln w="12700">
            <a:solidFill>
              <a:srgbClr val="6157A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511845" y="5184648"/>
            <a:ext cx="29300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72B3A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Directory federation adapter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8292389" y="5550408"/>
            <a:ext cx="313121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RESTORED — withdrawn as "per-deployment content". The directory is a named MVP capability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566928" y="6419088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 CIE optimized delivery plan  |  joint Connect360 + WPCO response  |  17 Sep 2026</a:t>
            </a:r>
            <a:endParaRPr lang="en-US" sz="750" dirty="0"/>
          </a:p>
        </p:txBody>
      </p:sp>
      <p:sp>
        <p:nvSpPr>
          <p:cNvPr id="53" name="Text 51"/>
          <p:cNvSpPr txBox="1"/>
          <p:nvPr/>
        </p:nvSpPr>
        <p:spPr>
          <a:xfrm>
            <a:off x="11076127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B3A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How the engines survive being deferred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0467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knowledge graph, the longitudinal record, the four engines and the agents all remain in the plan — and all arrive later.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207008"/>
            <a:ext cx="11057839" cy="676656"/>
          </a:xfrm>
          <a:prstGeom prst="roundRect">
            <a:avLst>
              <a:gd name="adj" fmla="val 5405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86968" y="1371600"/>
            <a:ext cx="104177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A capability is safely deferrable if, and only if, it can be reconstructed from what MVP wrote down.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029968"/>
            <a:ext cx="5368900" cy="868680"/>
          </a:xfrm>
          <a:prstGeom prst="roundRect">
            <a:avLst>
              <a:gd name="adj" fmla="val 4211"/>
            </a:avLst>
          </a:prstGeom>
          <a:solidFill>
            <a:srgbClr val="DFF4F1"/>
          </a:solidFill>
          <a:ln w="9525">
            <a:solidFill>
              <a:srgbClr val="DFF4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212848"/>
            <a:ext cx="48568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B4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PATH — irreversible. 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B4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fact not captured cannot be recovered. This is what CY2027 buys.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55868" y="2029968"/>
            <a:ext cx="5368900" cy="868680"/>
          </a:xfrm>
          <a:prstGeom prst="roundRect">
            <a:avLst>
              <a:gd name="adj" fmla="val 4211"/>
            </a:avLst>
          </a:prstGeom>
          <a:solidFill>
            <a:srgbClr val="E8F3F8"/>
          </a:solidFill>
          <a:ln w="9525">
            <a:solidFill>
              <a:srgbClr val="E8F3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11900" y="2212848"/>
            <a:ext cx="48568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B3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PATH — deferrable. 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B3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function of history, computable at any future date. This is every engine you named.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063240"/>
          <a:ext cx="11057839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6318504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Recorded at MVP — CY2027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Arrives later, behind that seam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edge set — relationships as dated, provenance-bearing facts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knowledge graph as a running projection  ·  CY2029, hydrated by replaying the MVP event log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event log — stable types, idempotency, ordering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engine that consumes it  ·  CY2029–31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temporal spine, recorded on every state change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journey engine over it  ·  CY2029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citizenEverything seam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WPC context ranking behind it  ·  CY2029, with no partner-facing change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stable event-type vocabulary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Signal dispositioning  ·  CY2030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 verbs with recorded actor and reason; a non-human actor in the audit model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Governed agents  ·  CY2031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566928" y="5943600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i="1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sharper version of the position: the graph is foundational in Phase 2, and the only way to have it in Phase 2 is to record its edges and publish its events at MVP. That is three to four weeks of architect and FHIR-engineer time against 45 duration weeks in the original plan.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6419088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 CIE optimized delivery plan  |  joint Connect360 + WPCO response  |  17 Sep 2026</a:t>
            </a:r>
            <a:endParaRPr lang="en-US" sz="750" dirty="0"/>
          </a:p>
        </p:txBody>
      </p:sp>
      <p:sp>
        <p:nvSpPr>
          <p:cNvPr id="13" name="Text 10"/>
          <p:cNvSpPr txBox="1"/>
          <p:nvPr/>
        </p:nvSpPr>
        <p:spPr>
          <a:xfrm>
            <a:off x="11076127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B3A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CY2027 — the MVP to 30 June 2027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0467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71.5 FTE-months, $3,157,625 delivered cost. Configuration case. Tiers 1 and 2 start week 1 and complete before partner onboarding begins.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261872"/>
            <a:ext cx="11057839" cy="80467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8E6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44752"/>
            <a:ext cx="1078992" cy="475488"/>
          </a:xfrm>
          <a:prstGeom prst="roundRect">
            <a:avLst>
              <a:gd name="adj" fmla="val 5769"/>
            </a:avLst>
          </a:prstGeom>
          <a:solidFill>
            <a:srgbClr val="188977"/>
          </a:solidFill>
          <a:ln w="12700">
            <a:solidFill>
              <a:srgbClr val="18897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563624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938528" y="13898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3A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Irreversible — the write path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938528" y="1655064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with non-destructive merge · consent provision model and enforcement · provenance and cross-org audit · RBAC · event log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9338767" y="151790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88977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9.5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338767" y="181051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FTE-mo</a:t>
            </a:r>
            <a:endParaRPr lang="en-US" sz="700" dirty="0"/>
          </a:p>
        </p:txBody>
      </p:sp>
      <p:sp>
        <p:nvSpPr>
          <p:cNvPr id="11" name="Text 9"/>
          <p:cNvSpPr txBox="1"/>
          <p:nvPr/>
        </p:nvSpPr>
        <p:spPr>
          <a:xfrm>
            <a:off x="10390327" y="153619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2B3A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$349,125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130552"/>
            <a:ext cx="11057839" cy="80467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8E6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313432"/>
            <a:ext cx="1078992" cy="475488"/>
          </a:xfrm>
          <a:prstGeom prst="roundRect">
            <a:avLst>
              <a:gd name="adj" fmla="val 5769"/>
            </a:avLst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2432304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938528" y="22585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3A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Contract surfaces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938528" y="2523744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Owned versioned integration façade · domain-verb mutations and the statewide reason-code vocabulary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9338767" y="238658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76B87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6.0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338767" y="267919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FTE-mo</a:t>
            </a:r>
            <a:endParaRPr lang="en-US" sz="700" dirty="0"/>
          </a:p>
        </p:txBody>
      </p:sp>
      <p:sp>
        <p:nvSpPr>
          <p:cNvPr id="19" name="Text 17"/>
          <p:cNvSpPr txBox="1"/>
          <p:nvPr/>
        </p:nvSpPr>
        <p:spPr>
          <a:xfrm>
            <a:off x="10390327" y="24048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2B3A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$220,500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2999232"/>
            <a:ext cx="11057839" cy="80467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8E6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182112"/>
            <a:ext cx="1078992" cy="475488"/>
          </a:xfrm>
          <a:prstGeom prst="roundRect">
            <a:avLst>
              <a:gd name="adj" fmla="val 5769"/>
            </a:avLst>
          </a:prstGeom>
          <a:solidFill>
            <a:srgbClr val="0F4AB4"/>
          </a:solidFill>
          <a:ln w="12700">
            <a:solidFill>
              <a:srgbClr val="0F4AB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3300984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938528" y="31272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3A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The MVP product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938528" y="3392424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 portal · read-side projection · conform and write · citizenEverything · directory adapter · referral workflow · HRSN screening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9338767" y="325526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4AB4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24.5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338767" y="354787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FTE-mo</a:t>
            </a:r>
            <a:endParaRPr lang="en-US" sz="700" dirty="0"/>
          </a:p>
        </p:txBody>
      </p:sp>
      <p:sp>
        <p:nvSpPr>
          <p:cNvPr id="27" name="Text 25"/>
          <p:cNvSpPr txBox="1"/>
          <p:nvPr/>
        </p:nvSpPr>
        <p:spPr>
          <a:xfrm>
            <a:off x="10390327" y="327355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2B3A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$900,375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" y="3867912"/>
            <a:ext cx="11057839" cy="80467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8E6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4050792"/>
            <a:ext cx="1078992" cy="475488"/>
          </a:xfrm>
          <a:prstGeom prst="roundRect">
            <a:avLst>
              <a:gd name="adj" fmla="val 5769"/>
            </a:avLst>
          </a:prstGeom>
          <a:solidFill>
            <a:srgbClr val="6157A6"/>
          </a:solidFill>
          <a:ln w="12700">
            <a:solidFill>
              <a:srgbClr val="6157A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1520" y="4169664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4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938528" y="39959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3A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Compliance engineering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938528" y="4261104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508 / WCAG 2.1 AA and VPAT · Tribal and IHS data sovereignty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9338767" y="412394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157A6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4.5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338767" y="441655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FTE-mo</a:t>
            </a:r>
            <a:endParaRPr lang="en-US" sz="700" dirty="0"/>
          </a:p>
        </p:txBody>
      </p:sp>
      <p:sp>
        <p:nvSpPr>
          <p:cNvPr id="35" name="Text 33"/>
          <p:cNvSpPr txBox="1"/>
          <p:nvPr/>
        </p:nvSpPr>
        <p:spPr>
          <a:xfrm>
            <a:off x="10390327" y="41422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2B3A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$165,375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66928" y="4736592"/>
            <a:ext cx="11057839" cy="80467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8E6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1520" y="4919472"/>
            <a:ext cx="1078992" cy="475488"/>
          </a:xfrm>
          <a:prstGeom prst="roundRect">
            <a:avLst>
              <a:gd name="adj" fmla="val 5769"/>
            </a:avLst>
          </a:prstGeom>
          <a:solidFill>
            <a:srgbClr val="D59B2D"/>
          </a:solidFill>
          <a:ln w="12700">
            <a:solidFill>
              <a:srgbClr val="D59B2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1520" y="5038344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NON-BUILD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938528" y="48646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B3A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What the contract actually pays for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1938528" y="5129784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 evidence and WaTech SDR · partner onboarding factory (6–8) · programme management and 23 deliverables · operations and tier-2/3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9338767" y="499262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59B2D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27.0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9338767" y="528523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FTE-mo</a:t>
            </a:r>
            <a:endParaRPr lang="en-US" sz="700" dirty="0"/>
          </a:p>
        </p:txBody>
      </p:sp>
      <p:sp>
        <p:nvSpPr>
          <p:cNvPr id="43" name="Text 41"/>
          <p:cNvSpPr txBox="1"/>
          <p:nvPr/>
        </p:nvSpPr>
        <p:spPr>
          <a:xfrm>
            <a:off x="10390327" y="50109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2B3A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$992,250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66928" y="5696712"/>
            <a:ext cx="11057839" cy="530352"/>
          </a:xfrm>
          <a:prstGeom prst="roundRect">
            <a:avLst>
              <a:gd name="adj" fmla="val 6897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86968" y="5833872"/>
            <a:ext cx="104177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CY2027 total  ·  71.5 FTE-months  ·  $2,627,625 labour + $530,000 non-labour  =  $3,157,625 delivered cost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566928" y="6419088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 CIE optimized delivery plan  |  joint Connect360 + WPCO response  |  17 Sep 2026</a:t>
            </a:r>
            <a:endParaRPr lang="en-US" sz="750" dirty="0"/>
          </a:p>
        </p:txBody>
      </p:sp>
      <p:sp>
        <p:nvSpPr>
          <p:cNvPr id="47" name="Text 45"/>
          <p:cNvSpPr txBox="1"/>
          <p:nvPr/>
        </p:nvSpPr>
        <p:spPr>
          <a:xfrm>
            <a:off x="11076127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B3A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Five-year plan, right-sized to the annual ceilings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0467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year is scoped to what that year’s ceiling can fund at the target margin — not to the wish list.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80160"/>
          <a:ext cx="11057839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434840"/>
                <a:gridCol w="777240"/>
                <a:gridCol w="1371600"/>
                <a:gridCol w="1463040"/>
                <a:gridCol w="1280160"/>
                <a:gridCol w="1106424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delivers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FTE-mo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@10% GM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Ceiling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Headroom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MVP — identity, consent, referral, directory, record, operational reporting, portal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71.5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$3,157,625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$3,508,472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$3,400,000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B44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−$108,472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Shared care plan · granular consent · population &amp; equity analytics · next partner cohort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65.0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$2,868,750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$3,187,500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$3,400,000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889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$212,500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 notification · knowledge graph by replay · journey engine · WPC ranking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66.0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$2,905,500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$3,228,333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$3,500,000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889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$271,667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 dispatch · signal dispositioning · graph inference · enrollment verification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60.0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$2,685,000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$2,983,333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$3,500,000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889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$516,667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Governed agents · care-plan intelligence · forecasting · advanced consent interoperability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58.0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$2,611,500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$2,901,667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$3,500,000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889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$598,333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320.5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$14,228,375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$15,809,306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$17,300,000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8897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$1,490,694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4F1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526280"/>
            <a:ext cx="11057839" cy="1481328"/>
          </a:xfrm>
          <a:prstGeom prst="roundRect">
            <a:avLst>
              <a:gd name="adj" fmla="val 2469"/>
            </a:avLst>
          </a:prstGeom>
          <a:solidFill>
            <a:srgbClr val="F7EBE7"/>
          </a:solidFill>
          <a:ln w="9525">
            <a:solidFill>
              <a:srgbClr val="F7EBE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9536" y="4681728"/>
            <a:ext cx="104726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462E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Does not fit the five-year envelope at all — 51 FTE-months, $1,874,250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59536" y="5029200"/>
            <a:ext cx="104726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3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Client-facing portal  ·  agentic marketplace and orchestration at scale  ·  household and family thread  ·  agent impact and ROI reporting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59536" y="5358384"/>
            <a:ext cx="1047262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3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Stated plainly: the full WPCO vision does not fit inside the WA CIE envelope. The engines and the graph arrive; the marketplace and the client portal do not. If they matter they need a second funding source — which is an argument for a pipeline, not for loading them into this bid.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6419088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 CIE optimized delivery plan  |  joint Connect360 + WPCO response  |  17 Sep 2026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11076127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B3A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What $3,400,000 actually buys in CY2027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0467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 is the lever that decides whether the configuration case fits. The construction case does not fit at any margin.</a:t>
            </a:r>
            <a:endParaRPr lang="en-US" sz="10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298448"/>
          <a:ext cx="66751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16368" y="1298448"/>
            <a:ext cx="4108399" cy="1371600"/>
          </a:xfrm>
          <a:prstGeom prst="roundRect">
            <a:avLst>
              <a:gd name="adj" fmla="val 2667"/>
            </a:avLst>
          </a:prstGeom>
          <a:solidFill>
            <a:srgbClr val="DFF4F1"/>
          </a:solidFill>
          <a:ln w="9525">
            <a:solidFill>
              <a:srgbClr val="DFF4F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44968" y="1463040"/>
            <a:ext cx="36511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4A3E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Configuration case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744968" y="1773936"/>
            <a:ext cx="36511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B4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Fits at roughly 7% gross margin; about $108,000 over at 10%. A closeable gap — three FTE-months of scope, or a thinner year-one margin recovered in CY2028–31 where there is headroom.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516368" y="2788920"/>
            <a:ext cx="4108399" cy="1463040"/>
          </a:xfrm>
          <a:prstGeom prst="roundRect">
            <a:avLst>
              <a:gd name="adj" fmla="val 2500"/>
            </a:avLst>
          </a:prstGeom>
          <a:solidFill>
            <a:srgbClr val="F7EBE7"/>
          </a:solidFill>
          <a:ln w="9525">
            <a:solidFill>
              <a:srgbClr val="F7EBE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44968" y="2953512"/>
            <a:ext cx="36511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462E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Construction case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744968" y="3264408"/>
            <a:ext cx="365119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3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184.5 FTE-months. $4.3M to $6.3M over the ceiling at every margin tested. Exceeding an annual ceiling may be deemed nonresponsive and may not be scored — there is no pricing structure that recovers it.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516368" y="4370832"/>
            <a:ext cx="4108399" cy="1042416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8E6E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44968" y="4517136"/>
            <a:ext cx="36511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B3A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Ask Comagine in writing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7744968" y="4791456"/>
            <a:ext cx="3651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Evaluated Cost is defined twice in Sec. 5.7 — three components in one version, four in the other, with Year-1 recurring counted both on its own and inside the five-year total.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562356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US-only at a blended $36,750 per FTE-month — 55% from a US delivery centre or territory at $30,000, 45% onshore premium at $45,000. Both rates are assumptions; no rate card has been supplied.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6419088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 CIE optimized delivery plan  |  joint Connect360 + WPCO response  |  17 Sep 2026</a:t>
            </a:r>
            <a:endParaRPr lang="en-US" sz="750" dirty="0"/>
          </a:p>
        </p:txBody>
      </p:sp>
      <p:sp>
        <p:nvSpPr>
          <p:cNvPr id="16" name="Text 13"/>
          <p:cNvSpPr txBox="1"/>
          <p:nvPr/>
        </p:nvSpPr>
        <p:spPr>
          <a:xfrm>
            <a:off x="11076127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B3A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Six tests decide $2,205,000 of CY2027 scope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0467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costs more than a day. Run them before Submittal Form F is priced — they decide which case this bid is in.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61872"/>
          <a:ext cx="11057839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383280"/>
                <a:gridCol w="1600200"/>
                <a:gridCol w="1097280"/>
                <a:gridCol w="4443984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question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to answer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 it fails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B44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 the existing Connect360 portal be extended to worker roles, or is a new worker application required?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 review + staff-scoped demo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B44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27.0 FTE-mo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B44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$992,250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new build is 26 FTE-months of front-end at one concurrent engineer — the floor, not the estimate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 the resource directory carved out to the statewide directory partner?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Written question to Comagine by 9 Oct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 FTE-mo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$367,500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 own corpus sourcing and curation — an operation, not code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B44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Does Connect360 hold current HITRUST r2 and SOC 2 Type II?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call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 FTE-mo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$294,000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Decides deliverability. HITRUST r2 from a standing start is 9–18 months against a 25-week runway — this bid then needs a certified partner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Does a role / permission model with delegated organisation administration exist?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Schema review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 FTE-mo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$202,125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role or permission type appears in the 553 introspected types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Does matchPerson / resolveIdentity exist, and can it be fronted?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call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 FTE-mo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$183,750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$match, no PIX, no PDQ at the gateway; the EMPI rests on a verbal statement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 provision.securityLabel enforced at QUERY time, not just stored?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hour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 FTE-mo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$165,375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72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pipeline writes labels nothing enforces — worse than no labelling, and the claim is carried into the WaTech Security Design Review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5321808"/>
            <a:ext cx="11057839" cy="585216"/>
          </a:xfrm>
          <a:prstGeom prst="roundRect">
            <a:avLst>
              <a:gd name="adj" fmla="val 6250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86968" y="5486400"/>
            <a:ext cx="10417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G2 decides whether this bid is deliverable at all — and it changes the teaming structure, which changes Submittal Form A. That cannot wait.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6419088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 CIE optimized delivery plan  |  joint Connect360 + WPCO response  |  17 Sep 2026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11076127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B3A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What this plan rests on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0467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Twenty numbered assumptions sit in the workbook. These are the ones carrying the most weight.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34440"/>
            <a:ext cx="5368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889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5368900" cy="1042416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8E6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95528" y="1719072"/>
            <a:ext cx="4911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B3A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A3 / A4 — both labour rates are assumptions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95528" y="2011680"/>
            <a:ext cx="49117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$30,000 US delivery centre and $45,000 onshore premium. No rate card has been supplied; the prior plan’s rates were marked ILLUSTRATIVE. That caveat is now three document versions old and sits on a $15.8M number.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" y="2688336"/>
            <a:ext cx="5368900" cy="1042416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8E6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" y="2834640"/>
            <a:ext cx="4911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B3A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A5 — 55% from a US delivery centre or territory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95528" y="3127248"/>
            <a:ext cx="49117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Puerto Rico and Guam are US territories and are the only legitimate low-cost lever under Sec. 3.6.4. Key personnel, SMEs, architects and client-facing roles are onshore premium.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3803904"/>
            <a:ext cx="5368900" cy="1042416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8E6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5528" y="3950208"/>
            <a:ext cx="4911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B3A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A11 — Connect360 is pre-existing at signature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4242816"/>
            <a:ext cx="49117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the commercial position and the only posture under which an offshore-built platform is lawful alongside the US-only services clause.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66928" y="4919472"/>
            <a:ext cx="5368900" cy="1042416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8E6E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95528" y="5065776"/>
            <a:ext cx="4911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B3A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A12 — the configuration case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5358384"/>
            <a:ext cx="49117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entire plan assumes the six gate tests pass.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6255868" y="1234440"/>
            <a:ext cx="5368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59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RISKS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55868" y="1572768"/>
            <a:ext cx="5368900" cy="1042416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8E6E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84468" y="1719072"/>
            <a:ext cx="4911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B3A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Two-year term, five-year plan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484468" y="2011680"/>
            <a:ext cx="49117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CY2029–31 are renewals at Comagine’s sole discretion, with no right or expectation of renewal. Build the investment case on CY2027–28 alone — $6.8M gross.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255868" y="2688336"/>
            <a:ext cx="5368900" cy="1042416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8E6E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84468" y="2834640"/>
            <a:ext cx="4911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B3A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Section 701 gates the cash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484468" y="3127248"/>
            <a:ext cx="49117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gates and budget approvals before funds release, and no advance or mobilisation payment exists in the RFP. Decompose CY2027 into 8–12 acceptance milestones.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255868" y="3803904"/>
            <a:ext cx="5368900" cy="1042416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8E6E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84468" y="3950208"/>
            <a:ext cx="4911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B3A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Three MVP capabilities sit in another IBM org’s backlog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484468" y="4242816"/>
            <a:ext cx="49117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composite resolver, 21 unexposed subscriptions, and matchPerson. Get dates in writing or price them as owned.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255868" y="4919472"/>
            <a:ext cx="5368900" cy="1042416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8E6E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84468" y="5065776"/>
            <a:ext cx="4911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B3A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Non-labour is only partly modelled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484468" y="5358384"/>
            <a:ext cx="49117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Chargeback, Azure, assessor fees and travel are in. Terminology licensing, HISP fees and AIRS membership are not.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610819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class 4 on class 4 inputs — expected accuracy roughly −20% / +30%. Read headline figures to the nearest $100,000 and treat the precision in the workbook as internal consistency, not accuracy.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6419088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 CIE optimized delivery plan  |  joint Connect360 + WPCO response  |  17 Sep 2026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11076127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3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What happens next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0467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Thirty-six days to the proposal. The sequence below is ordered by what blocks what.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0817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59B2D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52728" y="138988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Run the six gate tests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641848" y="1380744"/>
            <a:ext cx="59829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B9CC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G2 (certification) and G3 (portal). Together they decide $1.29M and whether the bid is deliverable.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23113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59B2D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52728" y="221284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Settle the teaming structure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641848" y="2203704"/>
            <a:ext cx="59829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B9CC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Connect360 does not hold HITRUST and SOC 2, this bid needs a partner who does — and that changes Submittal Form A.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05409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59B2D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52728" y="303580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Submit two questions by 9 October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641848" y="3026664"/>
            <a:ext cx="59829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B9CC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resource directory in scope, and which of the two conflicting Evaluated Cost definitions governs.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387705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59B2D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52728" y="385876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Get the real US rate card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641848" y="3849624"/>
            <a:ext cx="59829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B9CC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 vintage and a named delivery-centre location. Every figure here is directional until then.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470001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59B2D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05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52728" y="468172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Build the demonstration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641848" y="4672584"/>
            <a:ext cx="59829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B9CC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 of 1000 points, 16–20 November, on scenarios Comagine supplies. Identity, consent, referral, closed loop.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" y="5669280"/>
            <a:ext cx="11057839" cy="566928"/>
          </a:xfrm>
          <a:prstGeom prst="roundRect">
            <a:avLst>
              <a:gd name="adj" fmla="val 6452"/>
            </a:avLst>
          </a:prstGeom>
          <a:solidFill>
            <a:srgbClr val="188977"/>
          </a:solidFill>
          <a:ln w="12700">
            <a:solidFill>
              <a:srgbClr val="18897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86968" y="5824728"/>
            <a:ext cx="10417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itstream Charter" pitchFamily="34" charset="0"/>
                <a:ea typeface="Bitstream Charter" pitchFamily="34" charset="-122"/>
                <a:cs typeface="Bitstream Charter" pitchFamily="34" charset="-120"/>
              </a:rPr>
              <a:t>Washington is not funding the construction of a CIE platform. It is funding the configuration of one that is already running.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076127" y="6419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 CIE — Optimized Delivery Plan</dc:title>
  <dc:subject>PptxGenJS Presentation</dc:subject>
  <dc:creator>IBM Consulting</dc:creator>
  <cp:lastModifiedBy>IBM Consulting</cp:lastModifiedBy>
  <cp:revision>1</cp:revision>
  <dcterms:created xsi:type="dcterms:W3CDTF">2026-09-17T03:25:40Z</dcterms:created>
  <dcterms:modified xsi:type="dcterms:W3CDTF">2026-09-17T03:25:40Z</dcterms:modified>
</cp:coreProperties>
</file>