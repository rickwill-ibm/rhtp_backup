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Timeline — Overview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builds and releases the asset · Washington funds its deployment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CY2027–2031 · joint Connect360 + WPCO response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wks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2027 · 103 MVP requirements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7710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485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1485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1485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wk8 · R2 wk14 · R3 wk20 · GA wk24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8728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503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CY2027 IS ASSET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2503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31.35 of 71.5 FTE-months — absorbed as base asset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97467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211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235211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IN PRODUCTION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235211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connect before R2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06040" y="2304288"/>
            <a:ext cx="0" cy="31821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55412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97096" y="2304288"/>
            <a:ext cx="0" cy="31821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94176" y="55412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88152" y="2304288"/>
            <a:ext cx="0" cy="31821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85232" y="55412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79208" y="2304288"/>
            <a:ext cx="0" cy="31821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76288" y="55412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2030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970264" y="2304288"/>
            <a:ext cx="0" cy="31821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67344" y="55412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2031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561320" y="2304288"/>
            <a:ext cx="0" cy="31821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0" y="55412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2031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23957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PLATFORM ASSET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259689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Connect360 + WPCO</a:t>
            </a:r>
            <a:endParaRPr lang="en-US" sz="800" dirty="0"/>
          </a:p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IBM-funded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606040" y="2395728"/>
            <a:ext cx="7955280" cy="475488"/>
          </a:xfrm>
          <a:prstGeom prst="roundRect">
            <a:avLst>
              <a:gd name="adj" fmla="val 3846"/>
            </a:avLst>
          </a:prstGeom>
          <a:solidFill>
            <a:srgbClr val="D6E8DF"/>
          </a:solidFill>
          <a:ln w="13970">
            <a:solidFill>
              <a:srgbClr val="14594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15768" y="2441448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0E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person · consent that actually withholds data · referrals you can follow · a live service directory · the worker screen · one way in for other systems · a complete history · HITRUST + SOC 2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2715768" y="2715768"/>
            <a:ext cx="7735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things, built once and reused. Every engine Washington receives in Phase 2 and Phase 3 is more of the same product — not bespoke development billed to the state.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2651486" y="204825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852654" y="2212848"/>
            <a:ext cx="0" cy="182880"/>
          </a:xfrm>
          <a:prstGeom prst="line">
            <a:avLst/>
          </a:prstGeom>
          <a:noFill/>
          <a:ln w="7620">
            <a:solidFill>
              <a:srgbClr val="1459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97790" y="2926080"/>
            <a:ext cx="109728" cy="128016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52654" y="3054096"/>
            <a:ext cx="0" cy="109728"/>
          </a:xfrm>
          <a:prstGeom prst="line">
            <a:avLst/>
          </a:prstGeom>
          <a:noFill/>
          <a:ln w="12700">
            <a:solidFill>
              <a:srgbClr val="14594B"/>
            </a:solidFill>
            <a:prstDash val="dash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2834457" y="21945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035625" y="2359152"/>
            <a:ext cx="0" cy="36576"/>
          </a:xfrm>
          <a:prstGeom prst="line">
            <a:avLst/>
          </a:prstGeom>
          <a:noFill/>
          <a:ln w="7620">
            <a:solidFill>
              <a:srgbClr val="14594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80761" y="2926080"/>
            <a:ext cx="109728" cy="128016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35625" y="3054096"/>
            <a:ext cx="0" cy="109728"/>
          </a:xfrm>
          <a:prstGeom prst="line">
            <a:avLst/>
          </a:prstGeom>
          <a:noFill/>
          <a:ln w="12700">
            <a:solidFill>
              <a:srgbClr val="14594B"/>
            </a:solidFill>
            <a:prstDash val="dash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3017429" y="204825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18597" y="2212848"/>
            <a:ext cx="0" cy="182880"/>
          </a:xfrm>
          <a:prstGeom prst="line">
            <a:avLst/>
          </a:prstGeom>
          <a:noFill/>
          <a:ln w="7620">
            <a:solidFill>
              <a:srgbClr val="14594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63733" y="2926080"/>
            <a:ext cx="109728" cy="128016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18597" y="3054096"/>
            <a:ext cx="0" cy="109728"/>
          </a:xfrm>
          <a:prstGeom prst="line">
            <a:avLst/>
          </a:prstGeom>
          <a:noFill/>
          <a:ln w="12700">
            <a:solidFill>
              <a:srgbClr val="14594B"/>
            </a:solidFill>
            <a:prstDash val="dash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3136758" y="21945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337926" y="2359152"/>
            <a:ext cx="0" cy="36576"/>
          </a:xfrm>
          <a:prstGeom prst="line">
            <a:avLst/>
          </a:prstGeom>
          <a:noFill/>
          <a:ln w="7620">
            <a:solidFill>
              <a:srgbClr val="14594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83062" y="2926080"/>
            <a:ext cx="109728" cy="128016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37926" y="3054096"/>
            <a:ext cx="0" cy="109728"/>
          </a:xfrm>
          <a:prstGeom prst="line">
            <a:avLst/>
          </a:prstGeom>
          <a:noFill/>
          <a:ln w="12700">
            <a:solidFill>
              <a:srgbClr val="14594B"/>
            </a:solidFill>
            <a:prstDash val="dash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3520897" y="2926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wk8 · R2 wk14 · R3 wk20 · GA wk24   released to delivery ↓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566928" y="29809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FUNDS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94360" y="3236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06040" y="3145536"/>
            <a:ext cx="1591056" cy="512064"/>
          </a:xfrm>
          <a:prstGeom prst="roundRect">
            <a:avLst>
              <a:gd name="adj" fmla="val 3571"/>
            </a:avLst>
          </a:prstGeom>
          <a:solidFill>
            <a:srgbClr val="E4EFEA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715768" y="32004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configuration · 6–8 partner integrations · WaTech SDR · contract overhead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4288536" y="32461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$2.23M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2185416" y="38221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CY2028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197096" y="3730752"/>
            <a:ext cx="1591056" cy="512064"/>
          </a:xfrm>
          <a:prstGeom prst="roundRect">
            <a:avLst>
              <a:gd name="adj" fmla="val 3571"/>
            </a:avLst>
          </a:prstGeom>
          <a:solidFill>
            <a:srgbClr val="E7EEF6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306824" y="37856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 1 — shared care plan · granular consent · population &amp; equity analytics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5879592" y="38313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$2.25M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3776472" y="4407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CY2029–31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788152" y="4315968"/>
            <a:ext cx="4773168" cy="512064"/>
          </a:xfrm>
          <a:prstGeom prst="roundRect">
            <a:avLst>
              <a:gd name="adj" fmla="val 3571"/>
            </a:avLst>
          </a:prstGeom>
          <a:solidFill>
            <a:srgbClr val="E7DCC2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897880" y="4370832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 2 — event notification · knowledge graph · journey engine · WPC ranking · real-time dispatch · governed agents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10652760" y="44165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$5.15M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2185416" y="499262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recertification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197096" y="4901184"/>
            <a:ext cx="6364224" cy="512064"/>
          </a:xfrm>
          <a:prstGeom prst="roundRect">
            <a:avLst>
              <a:gd name="adj" fmla="val 3571"/>
            </a:avLst>
          </a:prstGeom>
          <a:solidFill>
            <a:srgbClr val="ECEDE8"/>
          </a:solidFill>
          <a:ln w="12700">
            <a:solidFill>
              <a:srgbClr val="5A6A6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306824" y="495604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tier-2/3 support · annual recertification · governance — continuous from go-live</a:t>
            </a:r>
            <a:endParaRPr lang="en-US" sz="850" dirty="0"/>
          </a:p>
        </p:txBody>
      </p:sp>
      <p:sp>
        <p:nvSpPr>
          <p:cNvPr id="72" name="Text 70"/>
          <p:cNvSpPr txBox="1"/>
          <p:nvPr/>
        </p:nvSpPr>
        <p:spPr>
          <a:xfrm>
            <a:off x="5947258" y="58155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FIT ANY FUNDING ROUTE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947258" y="5998464"/>
            <a:ext cx="3977640" cy="475488"/>
          </a:xfrm>
          <a:prstGeom prst="roundRect">
            <a:avLst>
              <a:gd name="adj" fmla="val 3846"/>
            </a:avLst>
          </a:prstGeom>
          <a:solidFill>
            <a:srgbClr val="F6E7E2"/>
          </a:solidFill>
          <a:ln w="12700">
            <a:solidFill>
              <a:srgbClr val="B4462E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6056986" y="610819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portal · agentic marketplace · household thread · agent ROI — needs a second deal</a:t>
            </a:r>
            <a:endParaRPr 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10016338" y="60899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$1.87M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66928" y="581558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position: asset development is absorbed into the base asset and carried on the IBM product P&amp;L — all five years, $5.56M. Washington funds only its own deployment: five-year price $9.63M against a $17.3M envelope, $7.67M of headroom, every year clear of its ceiling. Partial-absorption fallbacks are on 06h.</a:t>
            </a:r>
            <a:endParaRPr 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566928" y="6583680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follows — 06a: what the asset is  ·  06b: which asset each release enhances  ·  06c: release and handover ladder  ·  06d: CY2027 MVP roadmap  ·  06e: the five-year asset plan  ·  06f–06g: Phase 1 and Phase 2/3 line by line  ·  06h: what Washington funds and what IBM funds  ·  06i: funding positions year by year  ·  06j: re-derivation against evidence  ·  07 / 07a: solution models A vs B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Asset Actually Is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finished pieces of product, in plain English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once by IBM · configured and deployed for Washington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1057839" cy="457200"/>
          </a:xfrm>
          <a:prstGeom prst="roundRect">
            <a:avLst>
              <a:gd name="adj" fmla="val 4000"/>
            </a:avLst>
          </a:prstGeom>
          <a:solidFill>
            <a:srgbClr val="D6E8DF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161288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is not buying eight project outcomes. It is buying eight pieces of finished product — the same eight every later deployment receives. Washington pays to configure them, connect its partners, load its own data and pass its own security review.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2641016" cy="226771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64208"/>
            <a:ext cx="2641016" cy="54864"/>
          </a:xfrm>
          <a:prstGeom prst="roundRect">
            <a:avLst>
              <a:gd name="adj" fmla="val 16667"/>
            </a:avLst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792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58136" y="1801368"/>
            <a:ext cx="603504" cy="201168"/>
          </a:xfrm>
          <a:prstGeom prst="roundRect">
            <a:avLst>
              <a:gd name="adj" fmla="val 9091"/>
            </a:avLst>
          </a:prstGeom>
          <a:solidFill>
            <a:srgbClr val="E4EFEA"/>
          </a:solidFill>
          <a:ln w="8890">
            <a:solidFill>
              <a:srgbClr val="1459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58136" y="182422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066544"/>
            <a:ext cx="234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 per person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48716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exists once, even when agencies spell the name differently. A wrong match can be undone without losing anything.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3232" y="3200400"/>
            <a:ext cx="2348408" cy="0"/>
          </a:xfrm>
          <a:prstGeom prst="line">
            <a:avLst/>
          </a:prstGeom>
          <a:noFill/>
          <a:ln w="10160">
            <a:solidFill>
              <a:srgbClr val="E2E4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236976"/>
            <a:ext cx="234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6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392424"/>
            <a:ext cx="234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is “Maria Lopez” at the food bank, “M. Lopez-Ruiz” at the clinic and a case number at housing. The asset shows one record — and if that match was wrong, a steward un-merges it and nothing is lost.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72536" y="1664208"/>
            <a:ext cx="2641016" cy="226771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72536" y="1664208"/>
            <a:ext cx="2641016" cy="54864"/>
          </a:xfrm>
          <a:prstGeom prst="roundRect">
            <a:avLst>
              <a:gd name="adj" fmla="val 16667"/>
            </a:avLst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18840" y="1792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63744" y="1801368"/>
            <a:ext cx="603504" cy="201168"/>
          </a:xfrm>
          <a:prstGeom prst="roundRect">
            <a:avLst>
              <a:gd name="adj" fmla="val 9091"/>
            </a:avLst>
          </a:prstGeom>
          <a:solidFill>
            <a:srgbClr val="E4EFEA"/>
          </a:solidFill>
          <a:ln w="8890">
            <a:solidFill>
              <a:srgbClr val="1459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63744" y="182422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3518840" y="2066544"/>
            <a:ext cx="234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that actually withholds data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518840" y="248716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decides who sees what, and the rule is enforced when data is read — not written into a policy and hoped for.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18840" y="3200400"/>
            <a:ext cx="2348408" cy="0"/>
          </a:xfrm>
          <a:prstGeom prst="line">
            <a:avLst/>
          </a:prstGeom>
          <a:noFill/>
          <a:ln w="10160">
            <a:solidFill>
              <a:srgbClr val="E2E4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18840" y="3236976"/>
            <a:ext cx="234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3518840" y="3392424"/>
            <a:ext cx="234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shares her housing need with the CBO but not her behavioural-health history. The CBO worker searches and those records are simply not returned. She withdraws consent later: the record stays, the access stops.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78144" y="1664208"/>
            <a:ext cx="2641016" cy="226771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8144" y="1664208"/>
            <a:ext cx="2641016" cy="54864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24448" y="1792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69351" y="1801368"/>
            <a:ext cx="603504" cy="201168"/>
          </a:xfrm>
          <a:prstGeom prst="roundRect">
            <a:avLst>
              <a:gd name="adj" fmla="val 9091"/>
            </a:avLst>
          </a:prstGeom>
          <a:solidFill>
            <a:srgbClr val="DCE9DC"/>
          </a:solidFill>
          <a:ln w="8890">
            <a:solidFill>
              <a:srgbClr val="2F7D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69351" y="182422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→ R3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6324448" y="2066544"/>
            <a:ext cx="234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Referrals you can follow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324448" y="248716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referral is a tracked thing with a fixed set of actions and one statewide list of reasons — so every organisation means the same thing.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24448" y="3200400"/>
            <a:ext cx="2348408" cy="0"/>
          </a:xfrm>
          <a:prstGeom prst="line">
            <a:avLst/>
          </a:prstGeom>
          <a:noFill/>
          <a:ln w="10160">
            <a:solidFill>
              <a:srgbClr val="E2E4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24448" y="3236976"/>
            <a:ext cx="234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6324448" y="3392424"/>
            <a:ext cx="234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 refers Maria to a housing provider. The clinic sees it was received Tuesday and declined Thursday for “no capacity” — instead of “we sent an email and never heard back”.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983751" y="1664208"/>
            <a:ext cx="2641016" cy="226771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83751" y="1664208"/>
            <a:ext cx="2641016" cy="54864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30055" y="1792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874959" y="1801368"/>
            <a:ext cx="603504" cy="201168"/>
          </a:xfrm>
          <a:prstGeom prst="roundRect">
            <a:avLst>
              <a:gd name="adj" fmla="val 9091"/>
            </a:avLst>
          </a:prstGeom>
          <a:solidFill>
            <a:srgbClr val="E7EEF6"/>
          </a:solidFill>
          <a:ln w="8890">
            <a:solidFill>
              <a:srgbClr val="2C5F8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874959" y="182422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9130055" y="2066544"/>
            <a:ext cx="234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service directory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130055" y="248716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list of real services with real hours, eligibility and capacity, fed by the organisations themselves and by the statewide directory.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130055" y="3200400"/>
            <a:ext cx="2348408" cy="0"/>
          </a:xfrm>
          <a:prstGeom prst="line">
            <a:avLst/>
          </a:prstGeom>
          <a:noFill/>
          <a:ln w="10160">
            <a:solidFill>
              <a:srgbClr val="E2E4D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30055" y="3236976"/>
            <a:ext cx="234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650" dirty="0"/>
          </a:p>
        </p:txBody>
      </p:sp>
      <p:sp>
        <p:nvSpPr>
          <p:cNvPr id="47" name="Text 45"/>
          <p:cNvSpPr txBox="1"/>
          <p:nvPr/>
        </p:nvSpPr>
        <p:spPr>
          <a:xfrm>
            <a:off x="9130055" y="3392424"/>
            <a:ext cx="234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searches “food assistance, open Saturday, near Yakima” and gets three places that are actually open — and refers straight from the result, instead of working from a PDF printed in March.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66928" y="4005072"/>
            <a:ext cx="2641016" cy="226771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6928" y="4005072"/>
            <a:ext cx="2641016" cy="54864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13232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458136" y="4142232"/>
            <a:ext cx="603504" cy="201168"/>
          </a:xfrm>
          <a:prstGeom prst="roundRect">
            <a:avLst>
              <a:gd name="adj" fmla="val 9091"/>
            </a:avLst>
          </a:prstGeom>
          <a:solidFill>
            <a:srgbClr val="E7EEF6"/>
          </a:solidFill>
          <a:ln w="8890">
            <a:solidFill>
              <a:srgbClr val="2C5F8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458136" y="416509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713232" y="4407408"/>
            <a:ext cx="234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 screen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713232" y="4828032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place a caseworker works: find the person, confirm the match, see the record, capture consent, screen for need, send and track referrals, manage their own users.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13232" y="5541264"/>
            <a:ext cx="2348408" cy="0"/>
          </a:xfrm>
          <a:prstGeom prst="line">
            <a:avLst/>
          </a:prstGeom>
          <a:noFill/>
          <a:ln w="10160">
            <a:solidFill>
              <a:srgbClr val="E2E4D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13232" y="5577840"/>
            <a:ext cx="234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650" dirty="0"/>
          </a:p>
        </p:txBody>
      </p:sp>
      <p:sp>
        <p:nvSpPr>
          <p:cNvPr id="57" name="Text 55"/>
          <p:cNvSpPr txBox="1"/>
          <p:nvPr/>
        </p:nvSpPr>
        <p:spPr>
          <a:xfrm>
            <a:off x="713232" y="5733288"/>
            <a:ext cx="234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CBO worker opens one screen, confirms Maria is the person in front of her, records her consent, screens her for food and housing need and sends two referrals — without re-typing anything.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372536" y="4005072"/>
            <a:ext cx="2641016" cy="226771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72536" y="4005072"/>
            <a:ext cx="2641016" cy="54864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518840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263744" y="4142232"/>
            <a:ext cx="603504" cy="201168"/>
          </a:xfrm>
          <a:prstGeom prst="roundRect">
            <a:avLst>
              <a:gd name="adj" fmla="val 9091"/>
            </a:avLst>
          </a:prstGeom>
          <a:solidFill>
            <a:srgbClr val="DCE9DC"/>
          </a:solidFill>
          <a:ln w="8890">
            <a:solidFill>
              <a:srgbClr val="2F7D4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263744" y="416509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700" dirty="0"/>
          </a:p>
        </p:txBody>
      </p:sp>
      <p:sp>
        <p:nvSpPr>
          <p:cNvPr id="63" name="Text 61"/>
          <p:cNvSpPr txBox="1"/>
          <p:nvPr/>
        </p:nvSpPr>
        <p:spPr>
          <a:xfrm>
            <a:off x="3518840" y="4407408"/>
            <a:ext cx="234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way in for other systems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3518840" y="4828032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versioned connection point. Partners build against it once; nobody builds a separate link per partner, in either direction.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518840" y="5541264"/>
            <a:ext cx="2348408" cy="0"/>
          </a:xfrm>
          <a:prstGeom prst="line">
            <a:avLst/>
          </a:prstGeom>
          <a:noFill/>
          <a:ln w="10160">
            <a:solidFill>
              <a:srgbClr val="E2E4D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518840" y="5577840"/>
            <a:ext cx="234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650" dirty="0"/>
          </a:p>
        </p:txBody>
      </p:sp>
      <p:sp>
        <p:nvSpPr>
          <p:cNvPr id="67" name="Text 65"/>
          <p:cNvSpPr txBox="1"/>
          <p:nvPr/>
        </p:nvSpPr>
        <p:spPr>
          <a:xfrm>
            <a:off x="3518840" y="5733288"/>
            <a:ext cx="234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regional HIE connects once. When the twelfth organisation joins it uses the same connection point as the first, so onboarding is a repeatable checklist rather than a new project each time.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178144" y="4005072"/>
            <a:ext cx="2641016" cy="226771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78144" y="4005072"/>
            <a:ext cx="2641016" cy="54864"/>
          </a:xfrm>
          <a:prstGeom prst="roundRect">
            <a:avLst>
              <a:gd name="adj" fmla="val 16667"/>
            </a:avLst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324448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069351" y="4142232"/>
            <a:ext cx="603504" cy="201168"/>
          </a:xfrm>
          <a:prstGeom prst="roundRect">
            <a:avLst>
              <a:gd name="adj" fmla="val 9091"/>
            </a:avLst>
          </a:prstGeom>
          <a:solidFill>
            <a:srgbClr val="E4EFEA"/>
          </a:solidFill>
          <a:ln w="8890">
            <a:solidFill>
              <a:srgbClr val="14594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069351" y="416509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6324448" y="4407408"/>
            <a:ext cx="234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history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6324448" y="4828032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stamped with who did it and where it came from, every cross-organisation read logged, and an event stream that can be replayed.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324448" y="5541264"/>
            <a:ext cx="2348408" cy="0"/>
          </a:xfrm>
          <a:prstGeom prst="line">
            <a:avLst/>
          </a:prstGeom>
          <a:noFill/>
          <a:ln w="10160">
            <a:solidFill>
              <a:srgbClr val="E2E4D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324448" y="5577840"/>
            <a:ext cx="234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650" dirty="0"/>
          </a:p>
        </p:txBody>
      </p:sp>
      <p:sp>
        <p:nvSpPr>
          <p:cNvPr id="77" name="Text 75"/>
          <p:cNvSpPr txBox="1"/>
          <p:nvPr/>
        </p:nvSpPr>
        <p:spPr>
          <a:xfrm>
            <a:off x="6324448" y="5733288"/>
            <a:ext cx="234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asks who viewed Maria’s record in March and where her address came from. That is a report you run, not an investigation you commission.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983751" y="4005072"/>
            <a:ext cx="2641016" cy="226771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983751" y="4005072"/>
            <a:ext cx="2641016" cy="54864"/>
          </a:xfrm>
          <a:prstGeom prst="roundRect">
            <a:avLst>
              <a:gd name="adj" fmla="val 16667"/>
            </a:avLst>
          </a:prstGeom>
          <a:solidFill>
            <a:srgbClr val="A9741A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130055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10874959" y="4142232"/>
            <a:ext cx="603504" cy="201168"/>
          </a:xfrm>
          <a:prstGeom prst="roundRect">
            <a:avLst>
              <a:gd name="adj" fmla="val 9091"/>
            </a:avLst>
          </a:prstGeom>
          <a:solidFill>
            <a:srgbClr val="E7DCC2"/>
          </a:solidFill>
          <a:ln w="8890">
            <a:solidFill>
              <a:srgbClr val="A9741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874959" y="416509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83" name="Text 81"/>
          <p:cNvSpPr txBox="1"/>
          <p:nvPr/>
        </p:nvSpPr>
        <p:spPr>
          <a:xfrm>
            <a:off x="9130055" y="4407408"/>
            <a:ext cx="234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credentials the product holds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9130055" y="4828032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held by the product itself — HITRUST r2, SOC 2 Type II, an annual penetration test and WCAG 2.1 AA accessibility.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9130055" y="5541264"/>
            <a:ext cx="2348408" cy="0"/>
          </a:xfrm>
          <a:prstGeom prst="line">
            <a:avLst/>
          </a:prstGeom>
          <a:noFill/>
          <a:ln w="10160">
            <a:solidFill>
              <a:srgbClr val="E2E4D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130055" y="5577840"/>
            <a:ext cx="234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650" dirty="0"/>
          </a:p>
        </p:txBody>
      </p:sp>
      <p:sp>
        <p:nvSpPr>
          <p:cNvPr id="87" name="Text 85"/>
          <p:cNvSpPr txBox="1"/>
          <p:nvPr/>
        </p:nvSpPr>
        <p:spPr>
          <a:xfrm>
            <a:off x="9130055" y="5733288"/>
            <a:ext cx="234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Washington’s security review is submitted against a build that is already certified. The next state inherits the same certificate on day one — it is not re-earned and re-billed.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566928" y="6345936"/>
            <a:ext cx="11057839" cy="475488"/>
          </a:xfrm>
          <a:prstGeom prst="roundRect">
            <a:avLst>
              <a:gd name="adj" fmla="val 3846"/>
            </a:avLst>
          </a:prstGeom>
          <a:solidFill>
            <a:srgbClr val="F5F5F0"/>
          </a:solidFill>
          <a:ln w="11430">
            <a:solidFill>
              <a:srgbClr val="C7CDC9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49808" y="6437376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31.35 of CY2027’s 71.5 FTE-months build these eight things — absorbed into the base asset and carried by IBM, not billed to Washington. The other 40.15 are Washington’s own deployment: configuration, 6–8 partner integrations, its service-directory content, its security review and programme overhead.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Asset Each Release Enhances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in the product today · what each release adds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from the instance we inspected · unverified claims carry a gate test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33856"/>
          <a:ext cx="11057839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051560"/>
                <a:gridCol w="3063240"/>
                <a:gridCol w="1298448"/>
                <a:gridCol w="1298448"/>
                <a:gridCol w="1298448"/>
                <a:gridCol w="129844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EXISTS TODAY  —  ● verified in the instance   ○ not verified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· wk 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· wk 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· wk 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· wk 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One record per person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Connect360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data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553 FHIR R4 types and a working Patient store, but no $match and no PIX / PDQ. Identity matching does not exist today.   gate G6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 identifier · non-destructive merge and un-merge · link history · stewardship queue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resolved through the façade, so every partner resolves a person the same way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adjudication in the worker screen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Consent that withholds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Connect360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Full R4 ConsentProvision shape including securityLabel is present in the API.   ○ Whether it is enforced at read time is unproven.   gate G1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at the data layer · revoke-not-delete · securityLabel written from the first record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Honoured on every partner read through the façade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capture in the worker screen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HITRUST / SOC 2 scope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Referrals you can follow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Connect360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requests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serviceRequestsForOrganization exists — a queue, not a tracked lifecycle. No statewide reason vocabulary.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· accept · decline · close, with the statewide reason-code list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track and close in the screen; status returns to the sender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A live service directory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Connect360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HSDS directory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HSDS directory model present.   ○ No federation to the statewide directory; hours, eligibility and capacity are not kept current.   gate G5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Federation adapter · search by hours, eligibility and geography · refer straight from the result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The worker screen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7A5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WPCO experience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7A5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C360 portal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Connect360: ● participant portal only; ○ no worker UI, and no role or permission type among the 553.   WPCO: ● ~7,600 lines of worker screens exist at demo grade; ○ their production seams are declared fail-closed.   gates G3 · G4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and permissions behind the screen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screen itself — search, match, consent, HRSN screening, referral, org admin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2.1 AA · VPAT / ACR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One way in for other systems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A9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— IBM-owned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A9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façade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A vendor API surface that can change underneath us. There is no owned, versioned façade today.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façade profiled to US Core + SDOHCC — frozen at week 14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A complete history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Connect360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+ audit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22 ChangePayload types but a single subscription, and the proxy blocks accurate totals. The stream is partial.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per write · cross-organisation read audit · durable event log with stable types, idempotency and ordering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Read-side projection restores operational counts and extracts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A9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Security credentials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A9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A9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No HITRUST r2 or SOC 2 Type II is held at product level today.   gate G2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7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HITRUST r2 · SOC 2 Type II · annual penetration test · SDR against a frozen build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687568"/>
            <a:ext cx="6764420" cy="841248"/>
          </a:xfrm>
          <a:prstGeom prst="roundRect">
            <a:avLst>
              <a:gd name="adj" fmla="val 2174"/>
            </a:avLst>
          </a:prstGeom>
          <a:solidFill>
            <a:srgbClr val="EDE7F4"/>
          </a:solidFill>
          <a:ln w="11430">
            <a:solidFill>
              <a:srgbClr val="7A5C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" y="5760720"/>
            <a:ext cx="636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3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WPCO ACTUALLY LANDS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5943600"/>
            <a:ext cx="63620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CY2027 WPCO contributes the worker experience and the screening / referral orchestration on top of Connect360 — nothing more. The intelligence engines are Phase 2 and Phase 3: shared care plan and granular consent (CY2028), then knowledge graph, journey engine, WPC ranking, real-time dispatch and governed agents (CY2029–31). Claiming them in MVP would not survive the demonstration.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514228" y="5687568"/>
            <a:ext cx="4110539" cy="841248"/>
          </a:xfrm>
          <a:prstGeom prst="roundRect">
            <a:avLst>
              <a:gd name="adj" fmla="val 2174"/>
            </a:avLst>
          </a:prstGeom>
          <a:solidFill>
            <a:srgbClr val="F5F5F0"/>
          </a:solidFill>
          <a:ln w="11430">
            <a:solidFill>
              <a:srgbClr val="C7CDC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15396" y="5760720"/>
            <a:ext cx="37082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THIS WAY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7715396" y="5943600"/>
            <a:ext cx="37082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seen working in the Connect360 instance.  ○ not seen, or seen only as a data shape — each carries a gate test to run before the demonstration. The R-columns are what IBM builds into the asset, not what Washington configures; Washington’s own work sits on slide 06h.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60196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 ·  gate tests G1–G6 must be run against the live instance before the 16–20 November demonstration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Release → Client Handover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asset story told inside the delivery story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work cannot start on a stream until its asset release exists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47053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path complete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E4EFEA"/>
          </a:solidFill>
          <a:ln w="11430">
            <a:solidFill>
              <a:srgbClr val="1459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person, safely merged and safely un-merged.  Consent that actually withholds data.  A permanent record of who did what.  Who is allowed to see what.  A complete, replayable history.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13.05  FTE-mo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14190" y="3566160"/>
            <a:ext cx="0" cy="274320"/>
          </a:xfrm>
          <a:prstGeom prst="line">
            <a:avLst/>
          </a:prstGeom>
          <a:noFill/>
          <a:ln w="17780">
            <a:solidFill>
              <a:srgbClr val="14594B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66928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66928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writes its own sharing rules, sets up its organisations, and decides how long records are kept.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07757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35773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87881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807757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surfaces frozen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07757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DCE9DC"/>
          </a:solidFill>
          <a:ln w="1143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54061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954061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way in for other systems — connect once, not one link per partner.  A fixed set of referral actions and standard reasons, so every organisation means the same thing by “declined”.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954061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17.55  FTE-mo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855019" y="3566160"/>
            <a:ext cx="0" cy="274320"/>
          </a:xfrm>
          <a:prstGeom prst="line">
            <a:avLst/>
          </a:prstGeom>
          <a:noFill/>
          <a:ln w="17780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807757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807757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54061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954061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 may begin. Nothing connects before this — and once it has, the surface cannot change.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48585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76601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228710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048585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product complete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48585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E7EEF6"/>
          </a:solidFill>
          <a:ln w="11430">
            <a:solidFill>
              <a:srgbClr val="2C5F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94889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5194889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staff actually use.  Reports that answer in seconds instead of scanning everything.  One call that returns a whole person.  A plug for the statewide service directory.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194889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33.05  FTE-mo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095848" y="3566160"/>
            <a:ext cx="0" cy="274320"/>
          </a:xfrm>
          <a:prstGeom prst="line">
            <a:avLst/>
          </a:prstGeom>
          <a:noFill/>
          <a:ln w="17780">
            <a:solidFill>
              <a:srgbClr val="2C5F8A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048585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048585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94889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5194889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finishes its setup, loads its service listings, defines its referral routes, and tests it with real staff.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89414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A9741A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17430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469539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24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289414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build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289414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E7DCC2"/>
          </a:solidFill>
          <a:ln w="11430">
            <a:solidFill>
              <a:srgbClr val="A9741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35718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7435718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credentials the product holds, so every deployment inherits them.  A break-in test.  Proof it works for people using a screen reader or a keyboard only.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435718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37.75  FTE-mo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336676" y="3566160"/>
            <a:ext cx="0" cy="274320"/>
          </a:xfrm>
          <a:prstGeom prst="line">
            <a:avLst/>
          </a:prstGeom>
          <a:noFill/>
          <a:ln w="17780">
            <a:solidFill>
              <a:srgbClr val="A9741A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7289414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7289414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35718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7435718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Washington’s security review can be submitted. Nothing touches real state data until it passes.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530243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003B6F"/>
          </a:solidFill>
          <a:ln w="12700">
            <a:solidFill>
              <a:srgbClr val="003B6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658259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10710367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26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9530243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GO-LIVE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530243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E3E9F2"/>
          </a:solidFill>
          <a:ln w="11430">
            <a:solidFill>
              <a:srgbClr val="003B6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676547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9676547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9676547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—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0577505" y="3566160"/>
            <a:ext cx="0" cy="274320"/>
          </a:xfrm>
          <a:prstGeom prst="line">
            <a:avLst/>
          </a:prstGeom>
          <a:noFill/>
          <a:ln w="17780">
            <a:solidFill>
              <a:srgbClr val="003B6F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9530243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9530243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676547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70" name="Text 68"/>
          <p:cNvSpPr txBox="1"/>
          <p:nvPr/>
        </p:nvSpPr>
        <p:spPr>
          <a:xfrm>
            <a:off x="9676547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 · 6–8 partners live · tier-2/3 support begins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5431536"/>
            <a:ext cx="11057839" cy="1060704"/>
          </a:xfrm>
          <a:prstGeom prst="roundRect">
            <a:avLst>
              <a:gd name="adj" fmla="val 1724"/>
            </a:avLst>
          </a:prstGeom>
          <a:solidFill>
            <a:srgbClr val="F5F5F0"/>
          </a:solidFill>
          <a:ln w="11430">
            <a:solidFill>
              <a:srgbClr val="C7CDC9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22960" y="5522976"/>
            <a:ext cx="10545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WEEK NUMBERS ARE WHAT THEY ARE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822960" y="5724144"/>
            <a:ext cx="10545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at week 14 is the binding release. The moment 6–8 independent organisations hold production integrations against the façade and the verb set, neither can change — so onboarding cannot start before week 14 and must finish by week 26. GA at week 24 is the certification release: the Security Design Review cannot be submitted against a build that is still moving, and two weeks of float to go-live is thin. Peak concurrency is about thirteen people in weeks 6–13; roughly $1.4M of CY2027 is out the door by week 14, against acceptance milestones worth far less.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566928" y="660196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 ·  release ladder ties to the Release handover tab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CY2027 MVP Roadmap (wk 1–34)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Sequenced by irreversibility, not by value · contract start 4 Jan 2027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Tiers 1 and 2 complete before any partner integrates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83084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0164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0938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18018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658793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55873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96647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93727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247120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44200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wk34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1188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write path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88920" y="1170432"/>
            <a:ext cx="3332018" cy="274320"/>
          </a:xfrm>
          <a:prstGeom prst="roundRect">
            <a:avLst>
              <a:gd name="adj" fmla="val 6667"/>
            </a:avLst>
          </a:prstGeom>
          <a:solidFill>
            <a:srgbClr val="E4EFEA"/>
          </a:solidFill>
          <a:ln w="11430">
            <a:solidFill>
              <a:srgbClr val="1459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71216" y="1197864"/>
            <a:ext cx="3167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consent · provenance &amp; audit · RBAC · event log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166658" y="11978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1536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contract surfaces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57847" y="1517904"/>
            <a:ext cx="2563091" cy="274320"/>
          </a:xfrm>
          <a:prstGeom prst="roundRect">
            <a:avLst>
              <a:gd name="adj" fmla="val 6667"/>
            </a:avLst>
          </a:prstGeom>
          <a:solidFill>
            <a:srgbClr val="DCE9DC"/>
          </a:solidFill>
          <a:ln w="1143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40143" y="1545336"/>
            <a:ext cx="2398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façade · domain verbs + reason codes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6166658" y="1545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MVP product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70465" y="1865376"/>
            <a:ext cx="5126182" cy="274320"/>
          </a:xfrm>
          <a:prstGeom prst="roundRect">
            <a:avLst>
              <a:gd name="adj" fmla="val 6667"/>
            </a:avLst>
          </a:prstGeom>
          <a:solidFill>
            <a:srgbClr val="E7EEF6"/>
          </a:solidFill>
          <a:ln w="11430">
            <a:solidFill>
              <a:srgbClr val="2C5F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52761" y="1892808"/>
            <a:ext cx="49615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portal · read-side projection · conform &amp; write · citizenEverything · directory adapter · referral · HRSN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9242367" y="1892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22311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· compliance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70465" y="2212848"/>
            <a:ext cx="4869873" cy="274320"/>
          </a:xfrm>
          <a:prstGeom prst="roundRect">
            <a:avLst>
              <a:gd name="adj" fmla="val 6667"/>
            </a:avLst>
          </a:prstGeom>
          <a:solidFill>
            <a:srgbClr val="EDE7F4"/>
          </a:solidFill>
          <a:ln w="11430">
            <a:solidFill>
              <a:srgbClr val="7A5CB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52761" y="2240280"/>
            <a:ext cx="47052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 / WCAG 2.1 AA + VPAT · Tribal &amp; IHS data sovereignty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8986058" y="22402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5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2578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lane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88920" y="2560320"/>
            <a:ext cx="5895109" cy="274320"/>
          </a:xfrm>
          <a:prstGeom prst="roundRect">
            <a:avLst>
              <a:gd name="adj" fmla="val 6667"/>
            </a:avLst>
          </a:prstGeom>
          <a:solidFill>
            <a:srgbClr val="E7DCC2"/>
          </a:solidFill>
          <a:ln w="11430">
            <a:solidFill>
              <a:srgbClr val="A974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71216" y="2587752"/>
            <a:ext cx="57305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HITRUST / SOC 2 evidence · penetration test · WaTech SDR + Privacy Threshold Analysis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8729749" y="2587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29260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0938" y="2907792"/>
            <a:ext cx="3075709" cy="274320"/>
          </a:xfrm>
          <a:prstGeom prst="roundRect">
            <a:avLst>
              <a:gd name="adj" fmla="val 6667"/>
            </a:avLst>
          </a:prstGeom>
          <a:solidFill>
            <a:srgbClr val="E3E9F2"/>
          </a:solidFill>
          <a:ln w="11430">
            <a:solidFill>
              <a:srgbClr val="003B6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03234" y="2935224"/>
            <a:ext cx="29111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interoperability partners — a factory, not eight bespoke projects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9242367" y="2935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273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88920" y="3255264"/>
            <a:ext cx="8458200" cy="274320"/>
          </a:xfrm>
          <a:prstGeom prst="roundRect">
            <a:avLst>
              <a:gd name="adj" fmla="val 6667"/>
            </a:avLst>
          </a:prstGeom>
          <a:solidFill>
            <a:srgbClr val="ECEDE8"/>
          </a:solidFill>
          <a:ln w="11430">
            <a:solidFill>
              <a:srgbClr val="5A6A6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871216" y="3282696"/>
            <a:ext cx="8293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deliverables · bi-weekly plan · monthly reports · RAID · governance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11292840" y="32826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36210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tier 2/3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196647" y="3602736"/>
            <a:ext cx="2050473" cy="274320"/>
          </a:xfrm>
          <a:prstGeom prst="roundRect">
            <a:avLst>
              <a:gd name="adj" fmla="val 6667"/>
            </a:avLst>
          </a:prstGeom>
          <a:solidFill>
            <a:srgbClr val="ECEDE8"/>
          </a:solidFill>
          <a:ln w="11430">
            <a:solidFill>
              <a:srgbClr val="5A6A6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78943" y="3630168"/>
            <a:ext cx="1885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Comagine owns tier 1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11292840" y="3630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39684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88920" y="3950208"/>
            <a:ext cx="8458200" cy="274320"/>
          </a:xfrm>
          <a:prstGeom prst="roundRect">
            <a:avLst>
              <a:gd name="adj" fmla="val 6667"/>
            </a:avLst>
          </a:prstGeom>
          <a:solidFill>
            <a:srgbClr val="F6E7E2"/>
          </a:solidFill>
          <a:ln w="11430">
            <a:solidFill>
              <a:srgbClr val="B4462E"/>
            </a:solidFill>
            <a:prstDash val="dash"/>
          </a:ln>
        </p:spPr>
      </p:sp>
      <p:sp>
        <p:nvSpPr>
          <p:cNvPr id="52" name="Text 50"/>
          <p:cNvSpPr txBox="1"/>
          <p:nvPr/>
        </p:nvSpPr>
        <p:spPr>
          <a:xfrm>
            <a:off x="2871216" y="3977640"/>
            <a:ext cx="8293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/ X12 / NCPDP spine · HCC/CDPS &amp; DRG groupers · HEDIS · total cost of care · CMS-0057-F · prior authorisation · Epic/Cerner SMART · ADF/Databricks · asset packaging  —  no WA CIE buyer at any phase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566928" y="4443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88920" y="4398264"/>
            <a:ext cx="8458200" cy="329184"/>
          </a:xfrm>
          <a:prstGeom prst="roundRect">
            <a:avLst>
              <a:gd name="adj" fmla="val 5556"/>
            </a:avLst>
          </a:prstGeom>
          <a:solidFill>
            <a:srgbClr val="E7DCC2"/>
          </a:solidFill>
          <a:ln w="12700">
            <a:solidFill>
              <a:srgbClr val="E7DCC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47786" y="4480560"/>
            <a:ext cx="146304" cy="164592"/>
          </a:xfrm>
          <a:prstGeom prst="diamond">
            <a:avLst/>
          </a:prstGeom>
          <a:solidFill>
            <a:srgbClr val="2F6DB4"/>
          </a:solidFill>
          <a:ln w="12700">
            <a:solidFill>
              <a:srgbClr val="2F6DB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389418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F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frozen wk14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610877" y="4480560"/>
            <a:ext cx="146304" cy="164592"/>
          </a:xfrm>
          <a:prstGeom prst="diamond">
            <a:avLst/>
          </a:prstGeom>
          <a:solidFill>
            <a:srgbClr val="A9741A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58149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passed wk24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123495" y="4480560"/>
            <a:ext cx="146304" cy="164592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251511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 wk26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173968" y="4480560"/>
            <a:ext cx="146304" cy="164592"/>
          </a:xfrm>
          <a:prstGeom prst="diamond">
            <a:avLst/>
          </a:prstGeom>
          <a:solidFill>
            <a:srgbClr val="5A6A62"/>
          </a:solidFill>
          <a:ln w="12700">
            <a:solidFill>
              <a:srgbClr val="5A6A6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921240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 ends wk34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736592"/>
          <a:ext cx="11057839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548640"/>
                <a:gridCol w="621792"/>
                <a:gridCol w="77541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FTE-mo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LANDS, AND WHEN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irreversible write path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Stable CIE identifier, permanent source-ID retention, non-destructive merge/unmerge with link history and a stewardship queue.  ◆ Full R4 consent provision shape, enforcement at the data layer, revoke-not-delete, securityLabel from the first record.  ◆ Provenance per write and cross-org read audit.  ◆ Durable event log — stable types, idempotency, ordering.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contract surfaces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Owned, versioned integration façade profiled to US Core + SDOHCC.  ◆ Domain-verb mutations with the statewide reason-code vocabulary.  — Both land BEFORE the first partner integrates; once 6–8 organisations hold production integrations the surface cannot be taken away.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· MVP product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Participant portal extended to worker roles — match adjudication, record view, consent capture, HRSN screening, referral create/receive/track/close, directory search, org admin.  ◆ Read-side projection with operational counts and a participant extract.  ◆ citizenEverything resolver.  ◆ Directory federation adapter.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A5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 + certification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508 / WCAG 2.1 AA, VPAT / ACR and remediation.  ◆ Tribal and IHS data sovereignty — 29 federally recognised tribes.  ◆ HITRUST r2 and SOC 2 evidence, penetration test, WaTech SDR and Privacy Threshold Analysis — a pre-condition of launch with an immediate-termination trigger.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3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· PM · operations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6–8 partners in production at go-live, run as a repeatable factory with a per-partner acceptance milestone.  ◆ 23 deliverables, bi-weekly plan updates, monthly reports, RAID.  ◆ Tier-2/3 support from go-live; Comagine owns tier 1.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" name="Text 61"/>
          <p:cNvSpPr txBox="1"/>
          <p:nvPr/>
        </p:nvSpPr>
        <p:spPr>
          <a:xfrm>
            <a:off x="566928" y="6620256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CY2027 MVP  ·  71.5 FTE-months · $3,157,625 delivered cost · ties to the Gantt and Staffing tabs  ·  US-only delivery per RFP Sec. 3.6.4  ·  illustrative rates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Asset Plan, End to End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asset releases · the engines and the agents are asset, not bespoke build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CY2027–2031 · every year still clears its funding ceiling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151.35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FTE-MONTHS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$5.56M of product across five years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7710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485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1485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1485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GA 2027 → v5.1 late 2031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8728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503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FIVE-YEAR EFFORT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2503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151.35 asset · 169.15 Washington delivery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97467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211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A5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63.0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235211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FTE-MO OF WPCO ENGINES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235211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the asset — plus 27.0 agentic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" y="2249424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" y="23042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" y="2487168"/>
            <a:ext cx="18384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MVP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66928" y="2724912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E4EFEA"/>
          </a:solidFill>
          <a:ln w="11430">
            <a:solidFill>
              <a:srgbClr val="1459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" y="27797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747053" y="279806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wk 24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" y="2962656"/>
            <a:ext cx="187506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consent · referrals · directory · worker screen · façade · complete history · HITRUST + SOC 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66928" y="4517136"/>
            <a:ext cx="918368" cy="219456"/>
          </a:xfrm>
          <a:prstGeom prst="rect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85296" y="4517136"/>
            <a:ext cx="1176156" cy="219456"/>
          </a:xfrm>
          <a:prstGeom prst="rect">
            <a:avLst/>
          </a:prstGeom>
          <a:solidFill>
            <a:srgbClr val="E2E6E3"/>
          </a:solidFill>
          <a:ln w="12700">
            <a:solidFill>
              <a:srgbClr val="CFD5D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" y="4544568"/>
            <a:ext cx="82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31.35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540160" y="4544568"/>
            <a:ext cx="10847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40.15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4754880"/>
            <a:ext cx="209452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FTE-mo  ·  Washington delivery FTE-mo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807757" y="2249424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35773" y="23042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935773" y="2487168"/>
            <a:ext cx="18384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Care coordination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807757" y="2724912"/>
            <a:ext cx="2094525" cy="713232"/>
          </a:xfrm>
          <a:prstGeom prst="roundRect">
            <a:avLst>
              <a:gd name="adj" fmla="val 2564"/>
            </a:avLst>
          </a:prstGeom>
          <a:solidFill>
            <a:srgbClr val="DCE9DC"/>
          </a:solidFill>
          <a:ln w="11430">
            <a:solidFill>
              <a:srgbClr val="2F7D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17485" y="27797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v2.0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987881" y="279806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2028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2917485" y="2962656"/>
            <a:ext cx="18750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care plan · granular consent · care team and household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807757" y="3493008"/>
            <a:ext cx="2094525" cy="713232"/>
          </a:xfrm>
          <a:prstGeom prst="roundRect">
            <a:avLst>
              <a:gd name="adj" fmla="val 2564"/>
            </a:avLst>
          </a:prstGeom>
          <a:solidFill>
            <a:srgbClr val="DCE9DC"/>
          </a:solidFill>
          <a:ln w="11430">
            <a:solidFill>
              <a:srgbClr val="2F7D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917485" y="35478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v2.1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3987881" y="35661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2028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2917485" y="3730752"/>
            <a:ext cx="18750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and equity analytics · outcome measures · release engineering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2826045" y="4261104"/>
            <a:ext cx="2057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 1 — MVP live and adopted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807757" y="4517136"/>
            <a:ext cx="741139" cy="21945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48896" y="4517136"/>
            <a:ext cx="1353385" cy="219456"/>
          </a:xfrm>
          <a:prstGeom prst="rect">
            <a:avLst/>
          </a:prstGeom>
          <a:solidFill>
            <a:srgbClr val="E2E6E3"/>
          </a:solidFill>
          <a:ln w="12700">
            <a:solidFill>
              <a:srgbClr val="CFD5D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862621" y="4544568"/>
            <a:ext cx="6496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23.00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3603760" y="4544568"/>
            <a:ext cx="12619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42.00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2807757" y="4754880"/>
            <a:ext cx="209452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FTE-mo  ·  Washington delivery FTE-mo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048585" y="2249424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76601" y="23042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CY2029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176601" y="2487168"/>
            <a:ext cx="18384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3a · Intelligence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048585" y="2724912"/>
            <a:ext cx="2094525" cy="713232"/>
          </a:xfrm>
          <a:prstGeom prst="roundRect">
            <a:avLst>
              <a:gd name="adj" fmla="val 2564"/>
            </a:avLst>
          </a:prstGeom>
          <a:solidFill>
            <a:srgbClr val="E7EEF6"/>
          </a:solidFill>
          <a:ln w="11430">
            <a:solidFill>
              <a:srgbClr val="2C5F8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158313" y="27797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v3.0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228710" y="279806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2029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5158313" y="2962656"/>
            <a:ext cx="18750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· journey engine · event notification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048585" y="3493008"/>
            <a:ext cx="2094525" cy="713232"/>
          </a:xfrm>
          <a:prstGeom prst="roundRect">
            <a:avLst>
              <a:gd name="adj" fmla="val 2564"/>
            </a:avLst>
          </a:prstGeom>
          <a:solidFill>
            <a:srgbClr val="E7EEF6"/>
          </a:solidFill>
          <a:ln w="11430">
            <a:solidFill>
              <a:srgbClr val="2C5F8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158313" y="35478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v3.1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6228710" y="35661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2029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5158313" y="3730752"/>
            <a:ext cx="18750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dispositioning · whole-person ranking · agent runtime and governance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5066873" y="4261104"/>
            <a:ext cx="2057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 2 — first renewal exercised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048585" y="4517136"/>
            <a:ext cx="1269409" cy="219456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17994" y="4517136"/>
            <a:ext cx="825116" cy="219456"/>
          </a:xfrm>
          <a:prstGeom prst="rect">
            <a:avLst/>
          </a:prstGeom>
          <a:solidFill>
            <a:srgbClr val="E2E6E3"/>
          </a:solidFill>
          <a:ln w="12700">
            <a:solidFill>
              <a:srgbClr val="CFD5D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103449" y="4544568"/>
            <a:ext cx="1177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40.00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6372858" y="4544568"/>
            <a:ext cx="733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5048585" y="4754880"/>
            <a:ext cx="209452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FTE-mo  ·  Washington delivery FTE-mo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7289414" y="2249424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7A5CB0"/>
          </a:solidFill>
          <a:ln w="12700">
            <a:solidFill>
              <a:srgbClr val="7A5CB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417430" y="23042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CY2030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7417430" y="2487168"/>
            <a:ext cx="18384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3b · Agentic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7289414" y="2724912"/>
            <a:ext cx="2094525" cy="713232"/>
          </a:xfrm>
          <a:prstGeom prst="roundRect">
            <a:avLst>
              <a:gd name="adj" fmla="val 2564"/>
            </a:avLst>
          </a:prstGeom>
          <a:solidFill>
            <a:srgbClr val="EDE7F4"/>
          </a:solidFill>
          <a:ln w="11430">
            <a:solidFill>
              <a:srgbClr val="7A5CB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399142" y="27797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v4.0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8469539" y="279806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2030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7399142" y="2962656"/>
            <a:ext cx="18750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dispatch · governed agents: intake triage, referral follow-up, benefit navigation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289414" y="3493008"/>
            <a:ext cx="2094525" cy="713232"/>
          </a:xfrm>
          <a:prstGeom prst="roundRect">
            <a:avLst>
              <a:gd name="adj" fmla="val 2564"/>
            </a:avLst>
          </a:prstGeom>
          <a:solidFill>
            <a:srgbClr val="EDE7F4"/>
          </a:solidFill>
          <a:ln w="11430">
            <a:solidFill>
              <a:srgbClr val="7A5CB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399142" y="35478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v4.1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8469539" y="35661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2030</a:t>
            </a:r>
            <a:endParaRPr lang="en-US" sz="700" dirty="0"/>
          </a:p>
        </p:txBody>
      </p:sp>
      <p:sp>
        <p:nvSpPr>
          <p:cNvPr id="78" name="Text 76"/>
          <p:cNvSpPr txBox="1"/>
          <p:nvPr/>
        </p:nvSpPr>
        <p:spPr>
          <a:xfrm>
            <a:off x="7399142" y="3730752"/>
            <a:ext cx="18750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 intelligence · evaluation harness · drift and red-team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7307702" y="4261104"/>
            <a:ext cx="2057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human-in-the-loop by default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289414" y="4517136"/>
            <a:ext cx="942536" cy="219456"/>
          </a:xfrm>
          <a:prstGeom prst="rect">
            <a:avLst/>
          </a:prstGeom>
          <a:solidFill>
            <a:srgbClr val="7A5CB0"/>
          </a:solidFill>
          <a:ln w="12700">
            <a:solidFill>
              <a:srgbClr val="7A5CB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31950" y="4517136"/>
            <a:ext cx="1151989" cy="219456"/>
          </a:xfrm>
          <a:prstGeom prst="rect">
            <a:avLst/>
          </a:prstGeom>
          <a:solidFill>
            <a:srgbClr val="E2E6E3"/>
          </a:solidFill>
          <a:ln w="12700">
            <a:solidFill>
              <a:srgbClr val="CFD5D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344278" y="4544568"/>
            <a:ext cx="85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27.00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8286814" y="4544568"/>
            <a:ext cx="10605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33.00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7289414" y="4754880"/>
            <a:ext cx="209452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FTE-mo  ·  Washington delivery FTE-mo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9530243" y="2249424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A9741A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658259" y="23042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CY2031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9658259" y="2487168"/>
            <a:ext cx="18384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3c · Orchestration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9530243" y="2724912"/>
            <a:ext cx="2094525" cy="713232"/>
          </a:xfrm>
          <a:prstGeom prst="roundRect">
            <a:avLst>
              <a:gd name="adj" fmla="val 2564"/>
            </a:avLst>
          </a:prstGeom>
          <a:solidFill>
            <a:srgbClr val="E7DCC2"/>
          </a:solidFill>
          <a:ln w="11430">
            <a:solidFill>
              <a:srgbClr val="A9741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639971" y="27797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v5.0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10710367" y="279806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2031</a:t>
            </a:r>
            <a:endParaRPr lang="en-US" sz="700" dirty="0"/>
          </a:p>
        </p:txBody>
      </p:sp>
      <p:sp>
        <p:nvSpPr>
          <p:cNvPr id="91" name="Text 89"/>
          <p:cNvSpPr txBox="1"/>
          <p:nvPr/>
        </p:nvSpPr>
        <p:spPr>
          <a:xfrm>
            <a:off x="9639971" y="2962656"/>
            <a:ext cx="18750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across journeys · impact measurement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9530243" y="3493008"/>
            <a:ext cx="2094525" cy="713232"/>
          </a:xfrm>
          <a:prstGeom prst="roundRect">
            <a:avLst>
              <a:gd name="adj" fmla="val 2564"/>
            </a:avLst>
          </a:prstGeom>
          <a:solidFill>
            <a:srgbClr val="E7DCC2"/>
          </a:solidFill>
          <a:ln w="11430">
            <a:solidFill>
              <a:srgbClr val="A9741A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9639971" y="35478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v5.1</a:t>
            </a:r>
            <a:endParaRPr lang="en-US" sz="950" dirty="0"/>
          </a:p>
        </p:txBody>
      </p:sp>
      <p:sp>
        <p:nvSpPr>
          <p:cNvPr id="94" name="Text 92"/>
          <p:cNvSpPr txBox="1"/>
          <p:nvPr/>
        </p:nvSpPr>
        <p:spPr>
          <a:xfrm>
            <a:off x="10710367" y="35661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2031</a:t>
            </a:r>
            <a:endParaRPr lang="en-US" sz="700" dirty="0"/>
          </a:p>
        </p:txBody>
      </p:sp>
      <p:sp>
        <p:nvSpPr>
          <p:cNvPr id="95" name="Text 93"/>
          <p:cNvSpPr txBox="1"/>
          <p:nvPr/>
        </p:nvSpPr>
        <p:spPr>
          <a:xfrm>
            <a:off x="9639971" y="3730752"/>
            <a:ext cx="18750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studio · TEFCA / QHIN · multi-deployment hardening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9548531" y="4261104"/>
            <a:ext cx="2057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second renewal exercised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530243" y="4517136"/>
            <a:ext cx="1083375" cy="219456"/>
          </a:xfrm>
          <a:prstGeom prst="rect">
            <a:avLst/>
          </a:prstGeom>
          <a:solidFill>
            <a:srgbClr val="A9741A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13617" y="4517136"/>
            <a:ext cx="1011150" cy="219456"/>
          </a:xfrm>
          <a:prstGeom prst="rect">
            <a:avLst/>
          </a:prstGeom>
          <a:solidFill>
            <a:srgbClr val="E2E6E3"/>
          </a:solidFill>
          <a:ln w="12700">
            <a:solidFill>
              <a:srgbClr val="CFD5D1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9585107" y="4544568"/>
            <a:ext cx="9919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10668481" y="4544568"/>
            <a:ext cx="9197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28.00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9530243" y="4754880"/>
            <a:ext cx="209452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FTE-mo  ·  Washington delivery FTE-mo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566928" y="5084064"/>
            <a:ext cx="5307763" cy="1335024"/>
          </a:xfrm>
          <a:prstGeom prst="roundRect">
            <a:avLst>
              <a:gd name="adj" fmla="val 1370"/>
            </a:avLst>
          </a:prstGeom>
          <a:solidFill>
            <a:srgbClr val="F5F5F0"/>
          </a:solidFill>
          <a:ln w="11430">
            <a:solidFill>
              <a:srgbClr val="C7CDC9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86384" y="5175504"/>
            <a:ext cx="4868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ASSET EFFORT GOES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86384" y="5431536"/>
            <a:ext cx="91440" cy="128016"/>
          </a:xfrm>
          <a:prstGeom prst="rect">
            <a:avLst/>
          </a:prstGeom>
          <a:solidFill>
            <a:srgbClr val="7A5CB0"/>
          </a:solidFill>
          <a:ln w="12700">
            <a:solidFill>
              <a:srgbClr val="7A5CB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950976" y="5394960"/>
            <a:ext cx="3936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 intelligence engines</a:t>
            </a:r>
            <a:endParaRPr lang="en-US" sz="800" dirty="0"/>
          </a:p>
        </p:txBody>
      </p:sp>
      <p:sp>
        <p:nvSpPr>
          <p:cNvPr id="106" name="Text 104"/>
          <p:cNvSpPr txBox="1"/>
          <p:nvPr/>
        </p:nvSpPr>
        <p:spPr>
          <a:xfrm>
            <a:off x="4914571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5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63.00</a:t>
            </a:r>
            <a:endParaRPr lang="en-US" sz="800" dirty="0"/>
          </a:p>
        </p:txBody>
      </p:sp>
      <p:sp>
        <p:nvSpPr>
          <p:cNvPr id="107" name="Text 105"/>
          <p:cNvSpPr txBox="1"/>
          <p:nvPr/>
        </p:nvSpPr>
        <p:spPr>
          <a:xfrm>
            <a:off x="5454067" y="5394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786384" y="5628132"/>
            <a:ext cx="91440" cy="128016"/>
          </a:xfrm>
          <a:prstGeom prst="rect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50976" y="5591556"/>
            <a:ext cx="3936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Connect360 platform extensions</a:t>
            </a:r>
            <a:endParaRPr lang="en-US" sz="800" dirty="0"/>
          </a:p>
        </p:txBody>
      </p:sp>
      <p:sp>
        <p:nvSpPr>
          <p:cNvPr id="110" name="Text 108"/>
          <p:cNvSpPr txBox="1"/>
          <p:nvPr/>
        </p:nvSpPr>
        <p:spPr>
          <a:xfrm>
            <a:off x="4914571" y="55915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29.15</a:t>
            </a:r>
            <a:endParaRPr lang="en-US" sz="800" dirty="0"/>
          </a:p>
        </p:txBody>
      </p:sp>
      <p:sp>
        <p:nvSpPr>
          <p:cNvPr id="111" name="Text 109"/>
          <p:cNvSpPr txBox="1"/>
          <p:nvPr/>
        </p:nvSpPr>
        <p:spPr>
          <a:xfrm>
            <a:off x="5454067" y="55915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786384" y="5824728"/>
            <a:ext cx="91440" cy="128016"/>
          </a:xfrm>
          <a:prstGeom prst="rect">
            <a:avLst/>
          </a:prstGeom>
          <a:solidFill>
            <a:srgbClr val="3A2E6B"/>
          </a:solidFill>
          <a:ln w="12700">
            <a:solidFill>
              <a:srgbClr val="3A2E6B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950976" y="5788152"/>
            <a:ext cx="3936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runtime, agents and assurance</a:t>
            </a:r>
            <a:endParaRPr lang="en-US" sz="800" dirty="0"/>
          </a:p>
        </p:txBody>
      </p:sp>
      <p:sp>
        <p:nvSpPr>
          <p:cNvPr id="114" name="Text 112"/>
          <p:cNvSpPr txBox="1"/>
          <p:nvPr/>
        </p:nvSpPr>
        <p:spPr>
          <a:xfrm>
            <a:off x="4914571" y="57881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A2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27.00</a:t>
            </a:r>
            <a:endParaRPr lang="en-US" sz="800" dirty="0"/>
          </a:p>
        </p:txBody>
      </p:sp>
      <p:sp>
        <p:nvSpPr>
          <p:cNvPr id="115" name="Text 113"/>
          <p:cNvSpPr txBox="1"/>
          <p:nvPr/>
        </p:nvSpPr>
        <p:spPr>
          <a:xfrm>
            <a:off x="5454067" y="57881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786384" y="6021324"/>
            <a:ext cx="91440" cy="128016"/>
          </a:xfrm>
          <a:prstGeom prst="rect">
            <a:avLst/>
          </a:prstGeom>
          <a:solidFill>
            <a:srgbClr val="A9741A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950976" y="5984748"/>
            <a:ext cx="3936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— release, studio, hardening</a:t>
            </a:r>
            <a:endParaRPr lang="en-US" sz="800" dirty="0"/>
          </a:p>
        </p:txBody>
      </p:sp>
      <p:sp>
        <p:nvSpPr>
          <p:cNvPr id="118" name="Text 116"/>
          <p:cNvSpPr txBox="1"/>
          <p:nvPr/>
        </p:nvSpPr>
        <p:spPr>
          <a:xfrm>
            <a:off x="4914571" y="59847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16.70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5454067" y="59847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786384" y="6217920"/>
            <a:ext cx="91440" cy="128016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950976" y="6181344"/>
            <a:ext cx="3936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experience (Connect360 + WPCO)</a:t>
            </a:r>
            <a:endParaRPr lang="en-US" sz="800" dirty="0"/>
          </a:p>
        </p:txBody>
      </p:sp>
      <p:sp>
        <p:nvSpPr>
          <p:cNvPr id="122" name="Text 120"/>
          <p:cNvSpPr txBox="1"/>
          <p:nvPr/>
        </p:nvSpPr>
        <p:spPr>
          <a:xfrm>
            <a:off x="4914571" y="61813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15.50</a:t>
            </a:r>
            <a:endParaRPr lang="en-US" sz="800" dirty="0"/>
          </a:p>
        </p:txBody>
      </p:sp>
      <p:sp>
        <p:nvSpPr>
          <p:cNvPr id="123" name="Text 121"/>
          <p:cNvSpPr txBox="1"/>
          <p:nvPr/>
        </p:nvSpPr>
        <p:spPr>
          <a:xfrm>
            <a:off x="5454067" y="61813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6039283" y="5084064"/>
            <a:ext cx="5585484" cy="1335024"/>
          </a:xfrm>
          <a:prstGeom prst="roundRect">
            <a:avLst>
              <a:gd name="adj" fmla="val 1370"/>
            </a:avLst>
          </a:prstGeom>
          <a:solidFill>
            <a:srgbClr val="D6E8DF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6258739" y="5175504"/>
            <a:ext cx="5146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E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MAKES THIS AN ASSET PLAN AND NOT A ROADMAP</a:t>
            </a:r>
            <a:endParaRPr lang="en-US" sz="850" dirty="0"/>
          </a:p>
        </p:txBody>
      </p:sp>
      <p:sp>
        <p:nvSpPr>
          <p:cNvPr id="126" name="Text 124"/>
          <p:cNvSpPr txBox="1"/>
          <p:nvPr/>
        </p:nvSpPr>
        <p:spPr>
          <a:xfrm>
            <a:off x="6258739" y="5376672"/>
            <a:ext cx="51465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 and every agent above is built once into the product and configured per deployment — Washington never pays for construction it cannot reuse, and IBM never rebuilds it for the next state. The dividing line is the same in every year: if the next deployment would need it built again, it is client work; if it would not, it is asset. That is why Washington’s share falls from 56% of CY2027 to 39% of CY2029 even as the capability grows. Phase 2 and Phase 3 are gated: nothing is promised that a renewal has not paid for, and nothing is built ahead of the gate that clears it.</a:t>
            </a:r>
            <a:endParaRPr lang="en-US" sz="800" dirty="0"/>
          </a:p>
        </p:txBody>
      </p:sp>
      <p:sp>
        <p:nvSpPr>
          <p:cNvPr id="127" name="Text 125"/>
          <p:cNvSpPr txBox="1"/>
          <p:nvPr/>
        </p:nvSpPr>
        <p:spPr>
          <a:xfrm>
            <a:off x="566928" y="6528816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 ·  151.35 asset / 169.15 client FTE-months · $36,750 blended US rate · figures tie to the Asset plan tab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The MVP, Line by Line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IBM builds into the asset · what Washington configures and runs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CY2027 · 31.35 asset · 40.15 Washington delivery FTE-months · go-live 30 June 2027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5418341" cy="310896"/>
          </a:xfrm>
          <a:prstGeom prst="roundRect">
            <a:avLst>
              <a:gd name="adj" fmla="val 5882"/>
            </a:avLst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79576"/>
            <a:ext cx="5125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 PATH, THE SURFACES AND THE CERTIFICATION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016005" y="14630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5509781" y="14630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5418341" cy="182880"/>
          </a:xfrm>
          <a:prstGeom prst="rect">
            <a:avLst/>
          </a:prstGeom>
          <a:solidFill>
            <a:srgbClr val="ECEDE8"/>
          </a:solidFill>
          <a:ln w="12700">
            <a:solidFill>
              <a:srgbClr val="ECED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673352"/>
            <a:ext cx="52354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WRITE PATH · week 8  —  irreversible if wrong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1901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1892808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stable CIE ID, non-destructive merge and un-merge, stewardship queue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284485" y="190195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5016005" y="1892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509781" y="1892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1442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2135124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— full R4 provision model, enforced at the data layer, revoke-not-delete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284485" y="214426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20" name="Text 18"/>
          <p:cNvSpPr txBox="1"/>
          <p:nvPr/>
        </p:nvSpPr>
        <p:spPr>
          <a:xfrm>
            <a:off x="5016005" y="21351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1.75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509781" y="21351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23865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969264" y="2377440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per write, cross-org read audit, retention and legal hold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284485" y="238658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25" name="Text 23"/>
          <p:cNvSpPr txBox="1"/>
          <p:nvPr/>
        </p:nvSpPr>
        <p:spPr>
          <a:xfrm>
            <a:off x="5016005" y="23774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509781" y="23774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26289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969264" y="2619756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roles, permissions and delegated organisation administration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4284485" y="262890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30" name="Text 28"/>
          <p:cNvSpPr txBox="1"/>
          <p:nvPr/>
        </p:nvSpPr>
        <p:spPr>
          <a:xfrm>
            <a:off x="5016005" y="26197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1.05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509781" y="26197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287121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969264" y="2862072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— stable type vocabulary, idempotency, ordering, subscriptions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4284485" y="2871216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5016005" y="2862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1.05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5509781" y="2862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6928" y="3168396"/>
            <a:ext cx="5418341" cy="182880"/>
          </a:xfrm>
          <a:prstGeom prst="rect">
            <a:avLst/>
          </a:prstGeom>
          <a:solidFill>
            <a:srgbClr val="ECEDE8"/>
          </a:solidFill>
          <a:ln w="12700">
            <a:solidFill>
              <a:srgbClr val="ECED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368" y="3177540"/>
            <a:ext cx="52354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CONTRACT SURFACES · week 14  —  frozen once partners hold them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34061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969264" y="3396996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Owned, versioned integration façade profiled to US Core + SDOHCC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4284485" y="340614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42" name="Text 40"/>
          <p:cNvSpPr txBox="1"/>
          <p:nvPr/>
        </p:nvSpPr>
        <p:spPr>
          <a:xfrm>
            <a:off x="5016005" y="33969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2.25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5509781" y="33969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36484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969264" y="3639312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Domain-verb mutations and the statewide reason-code vocabulary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4284485" y="3648456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47" name="Text 45"/>
          <p:cNvSpPr txBox="1"/>
          <p:nvPr/>
        </p:nvSpPr>
        <p:spPr>
          <a:xfrm>
            <a:off x="5016005" y="3639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2.25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5509781" y="3639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6928" y="3945636"/>
            <a:ext cx="5418341" cy="182880"/>
          </a:xfrm>
          <a:prstGeom prst="rect">
            <a:avLst/>
          </a:prstGeom>
          <a:solidFill>
            <a:srgbClr val="ECEDE8"/>
          </a:solidFill>
          <a:ln w="12700">
            <a:solidFill>
              <a:srgbClr val="ECEDE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8368" y="3954780"/>
            <a:ext cx="52354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· CERTIFIED BUILD · week 24  —  pre-condition of launch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566928" y="41833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" y="4174236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— 508 / WCAG 2.1 AA, VPAT / ACR and remediation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4284485" y="418338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54" name="Text 52"/>
          <p:cNvSpPr txBox="1"/>
          <p:nvPr/>
        </p:nvSpPr>
        <p:spPr>
          <a:xfrm>
            <a:off x="5016005" y="41742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2.10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5509781" y="41742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566928" y="44256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969264" y="4416552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and IHS data sovereignty handling — 29 federally recognised tribes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4284485" y="4425696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59" name="Text 57"/>
          <p:cNvSpPr txBox="1"/>
          <p:nvPr/>
        </p:nvSpPr>
        <p:spPr>
          <a:xfrm>
            <a:off x="5016005" y="44165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5509781" y="44165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56692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969264" y="4658868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HITRUST r2 and SOC 2 Type II evidence and penetration test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4284485" y="466801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64" name="Text 62"/>
          <p:cNvSpPr txBox="1"/>
          <p:nvPr/>
        </p:nvSpPr>
        <p:spPr>
          <a:xfrm>
            <a:off x="5016005" y="46588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5509781" y="46588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BD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66928" y="4946904"/>
            <a:ext cx="5418341" cy="0"/>
          </a:xfrm>
          <a:prstGeom prst="line">
            <a:avLst/>
          </a:prstGeom>
          <a:noFill/>
          <a:ln w="11430">
            <a:solidFill>
              <a:srgbClr val="C7CDC9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69264" y="5001768"/>
            <a:ext cx="34066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path, surfaces and certification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5016005" y="4983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15.85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5509781" y="4983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6.15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206426" y="1115568"/>
            <a:ext cx="5418341" cy="310896"/>
          </a:xfrm>
          <a:prstGeom prst="roundRect">
            <a:avLst>
              <a:gd name="adj" fmla="val 5882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352730" y="1179576"/>
            <a:ext cx="5125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PRODUCT AND THE WASHINGTON PROGRAMME</a:t>
            </a:r>
            <a:endParaRPr lang="en-US" sz="850" dirty="0"/>
          </a:p>
        </p:txBody>
      </p:sp>
      <p:sp>
        <p:nvSpPr>
          <p:cNvPr id="72" name="Text 70"/>
          <p:cNvSpPr txBox="1"/>
          <p:nvPr/>
        </p:nvSpPr>
        <p:spPr>
          <a:xfrm>
            <a:off x="10655503" y="14630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11149279" y="14630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206426" y="1664208"/>
            <a:ext cx="5418341" cy="182880"/>
          </a:xfrm>
          <a:prstGeom prst="rect">
            <a:avLst/>
          </a:prstGeom>
          <a:solidFill>
            <a:srgbClr val="ECEDE8"/>
          </a:solidFill>
          <a:ln w="12700">
            <a:solidFill>
              <a:srgbClr val="ECEDE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297866" y="1673352"/>
            <a:ext cx="52354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MVP PRODUCT · week 20  —  what a caseworker touches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6206426" y="1901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6608762" y="1892808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portal extended to worker roles — match, record view, consent, org admin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9923983" y="190195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+ WPCO</a:t>
            </a:r>
            <a:endParaRPr lang="en-US" sz="650" dirty="0"/>
          </a:p>
        </p:txBody>
      </p:sp>
      <p:sp>
        <p:nvSpPr>
          <p:cNvPr id="79" name="Text 77"/>
          <p:cNvSpPr txBox="1"/>
          <p:nvPr/>
        </p:nvSpPr>
        <p:spPr>
          <a:xfrm>
            <a:off x="10655503" y="1892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</a:t>
            </a: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11149279" y="1892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6206426" y="21442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6608762" y="2135124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Read-side reporting projection and operational counts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9923983" y="214426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+ WPCO</a:t>
            </a:r>
            <a:endParaRPr lang="en-US" sz="650" dirty="0"/>
          </a:p>
        </p:txBody>
      </p:sp>
      <p:sp>
        <p:nvSpPr>
          <p:cNvPr id="84" name="Text 82"/>
          <p:cNvSpPr txBox="1"/>
          <p:nvPr/>
        </p:nvSpPr>
        <p:spPr>
          <a:xfrm>
            <a:off x="10655503" y="21351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11149279" y="21351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1.25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6206426" y="23865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6608762" y="2377440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 and write — source-system adapters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9923983" y="238658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89" name="Text 87"/>
          <p:cNvSpPr txBox="1"/>
          <p:nvPr/>
        </p:nvSpPr>
        <p:spPr>
          <a:xfrm>
            <a:off x="10655503" y="23774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</a:t>
            </a:r>
            <a:endParaRPr 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11149279" y="23774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2.50</a:t>
            </a:r>
            <a:endParaRPr 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6206426" y="26289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6608762" y="2619756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citizenEverything composite resolver — one call returns a whole person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9923983" y="262890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94" name="Text 92"/>
          <p:cNvSpPr txBox="1"/>
          <p:nvPr/>
        </p:nvSpPr>
        <p:spPr>
          <a:xfrm>
            <a:off x="10655503" y="26197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850" dirty="0"/>
          </a:p>
        </p:txBody>
      </p:sp>
      <p:sp>
        <p:nvSpPr>
          <p:cNvPr id="95" name="Text 93"/>
          <p:cNvSpPr txBox="1"/>
          <p:nvPr/>
        </p:nvSpPr>
        <p:spPr>
          <a:xfrm>
            <a:off x="11149279" y="26197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6206426" y="287121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6608762" y="2862072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federation adapter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9923983" y="2871216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99" name="Text 97"/>
          <p:cNvSpPr txBox="1"/>
          <p:nvPr/>
        </p:nvSpPr>
        <p:spPr>
          <a:xfrm>
            <a:off x="10655503" y="2862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</a:t>
            </a:r>
            <a:endParaRPr lang="en-US" sz="850" dirty="0"/>
          </a:p>
        </p:txBody>
      </p:sp>
      <p:sp>
        <p:nvSpPr>
          <p:cNvPr id="100" name="Text 98"/>
          <p:cNvSpPr txBox="1"/>
          <p:nvPr/>
        </p:nvSpPr>
        <p:spPr>
          <a:xfrm>
            <a:off x="11149279" y="2862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850" dirty="0"/>
          </a:p>
        </p:txBody>
      </p:sp>
      <p:sp>
        <p:nvSpPr>
          <p:cNvPr id="101" name="Text 99"/>
          <p:cNvSpPr txBox="1"/>
          <p:nvPr/>
        </p:nvSpPr>
        <p:spPr>
          <a:xfrm>
            <a:off x="6206426" y="31135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6608762" y="3104388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management workflow — create, receive, track, close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9923983" y="311353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+ WPCO</a:t>
            </a:r>
            <a:endParaRPr lang="en-US" sz="650" dirty="0"/>
          </a:p>
        </p:txBody>
      </p:sp>
      <p:sp>
        <p:nvSpPr>
          <p:cNvPr id="104" name="Text 102"/>
          <p:cNvSpPr txBox="1"/>
          <p:nvPr/>
        </p:nvSpPr>
        <p:spPr>
          <a:xfrm>
            <a:off x="10655503" y="31043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850" dirty="0"/>
          </a:p>
        </p:txBody>
      </p:sp>
      <p:sp>
        <p:nvSpPr>
          <p:cNvPr id="105" name="Text 103"/>
          <p:cNvSpPr txBox="1"/>
          <p:nvPr/>
        </p:nvSpPr>
        <p:spPr>
          <a:xfrm>
            <a:off x="11149279" y="31043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</a:t>
            </a:r>
            <a:endParaRPr lang="en-US" sz="850" dirty="0"/>
          </a:p>
        </p:txBody>
      </p:sp>
      <p:sp>
        <p:nvSpPr>
          <p:cNvPr id="106" name="Text 104"/>
          <p:cNvSpPr txBox="1"/>
          <p:nvPr/>
        </p:nvSpPr>
        <p:spPr>
          <a:xfrm>
            <a:off x="6206426" y="33558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750" dirty="0"/>
          </a:p>
        </p:txBody>
      </p:sp>
      <p:sp>
        <p:nvSpPr>
          <p:cNvPr id="107" name="Text 105"/>
          <p:cNvSpPr txBox="1"/>
          <p:nvPr/>
        </p:nvSpPr>
        <p:spPr>
          <a:xfrm>
            <a:off x="6608762" y="3346704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HRSN screening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9923983" y="335584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+ WPCO</a:t>
            </a:r>
            <a:endParaRPr lang="en-US" sz="650" dirty="0"/>
          </a:p>
        </p:txBody>
      </p:sp>
      <p:sp>
        <p:nvSpPr>
          <p:cNvPr id="109" name="Text 107"/>
          <p:cNvSpPr txBox="1"/>
          <p:nvPr/>
        </p:nvSpPr>
        <p:spPr>
          <a:xfrm>
            <a:off x="10655503" y="33467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850" dirty="0"/>
          </a:p>
        </p:txBody>
      </p:sp>
      <p:sp>
        <p:nvSpPr>
          <p:cNvPr id="110" name="Text 108"/>
          <p:cNvSpPr txBox="1"/>
          <p:nvPr/>
        </p:nvSpPr>
        <p:spPr>
          <a:xfrm>
            <a:off x="11149279" y="33467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6206426" y="3653028"/>
            <a:ext cx="5418341" cy="182880"/>
          </a:xfrm>
          <a:prstGeom prst="rect">
            <a:avLst/>
          </a:prstGeom>
          <a:solidFill>
            <a:srgbClr val="ECEDE8"/>
          </a:solidFill>
          <a:ln w="12700">
            <a:solidFill>
              <a:srgbClr val="ECEDE8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297866" y="3662172"/>
            <a:ext cx="52354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DELIVERY ONLY  —  no asset content, none of it reusable</a:t>
            </a:r>
            <a:endParaRPr lang="en-US" sz="750" dirty="0"/>
          </a:p>
        </p:txBody>
      </p:sp>
      <p:sp>
        <p:nvSpPr>
          <p:cNvPr id="113" name="Text 111"/>
          <p:cNvSpPr txBox="1"/>
          <p:nvPr/>
        </p:nvSpPr>
        <p:spPr>
          <a:xfrm>
            <a:off x="6206426" y="38907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750" dirty="0"/>
          </a:p>
        </p:txBody>
      </p:sp>
      <p:sp>
        <p:nvSpPr>
          <p:cNvPr id="114" name="Text 112"/>
          <p:cNvSpPr txBox="1"/>
          <p:nvPr/>
        </p:nvSpPr>
        <p:spPr>
          <a:xfrm>
            <a:off x="6608762" y="3881628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WaTech Security Design Review and Privacy Threshold Analysis</a:t>
            </a:r>
            <a:endParaRPr lang="en-US" sz="750" dirty="0"/>
          </a:p>
        </p:txBody>
      </p:sp>
      <p:sp>
        <p:nvSpPr>
          <p:cNvPr id="115" name="Text 113"/>
          <p:cNvSpPr txBox="1"/>
          <p:nvPr/>
        </p:nvSpPr>
        <p:spPr>
          <a:xfrm>
            <a:off x="9923983" y="389077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50" dirty="0"/>
          </a:p>
        </p:txBody>
      </p:sp>
      <p:sp>
        <p:nvSpPr>
          <p:cNvPr id="116" name="Text 114"/>
          <p:cNvSpPr txBox="1"/>
          <p:nvPr/>
        </p:nvSpPr>
        <p:spPr>
          <a:xfrm>
            <a:off x="10655503" y="38816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BD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850" dirty="0"/>
          </a:p>
        </p:txBody>
      </p:sp>
      <p:sp>
        <p:nvSpPr>
          <p:cNvPr id="117" name="Text 115"/>
          <p:cNvSpPr txBox="1"/>
          <p:nvPr/>
        </p:nvSpPr>
        <p:spPr>
          <a:xfrm>
            <a:off x="11149279" y="38816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850" dirty="0"/>
          </a:p>
        </p:txBody>
      </p:sp>
      <p:sp>
        <p:nvSpPr>
          <p:cNvPr id="118" name="Text 116"/>
          <p:cNvSpPr txBox="1"/>
          <p:nvPr/>
        </p:nvSpPr>
        <p:spPr>
          <a:xfrm>
            <a:off x="6206426" y="41330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750" dirty="0"/>
          </a:p>
        </p:txBody>
      </p:sp>
      <p:sp>
        <p:nvSpPr>
          <p:cNvPr id="119" name="Text 117"/>
          <p:cNvSpPr txBox="1"/>
          <p:nvPr/>
        </p:nvSpPr>
        <p:spPr>
          <a:xfrm>
            <a:off x="6608762" y="4123944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integration and onboarding factory — 6–8 partners in production</a:t>
            </a:r>
            <a:endParaRPr lang="en-US" sz="750" dirty="0"/>
          </a:p>
        </p:txBody>
      </p:sp>
      <p:sp>
        <p:nvSpPr>
          <p:cNvPr id="120" name="Text 118"/>
          <p:cNvSpPr txBox="1"/>
          <p:nvPr/>
        </p:nvSpPr>
        <p:spPr>
          <a:xfrm>
            <a:off x="9923983" y="4133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50" dirty="0"/>
          </a:p>
        </p:txBody>
      </p:sp>
      <p:sp>
        <p:nvSpPr>
          <p:cNvPr id="121" name="Text 119"/>
          <p:cNvSpPr txBox="1"/>
          <p:nvPr/>
        </p:nvSpPr>
        <p:spPr>
          <a:xfrm>
            <a:off x="10655503" y="41239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BD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850" dirty="0"/>
          </a:p>
        </p:txBody>
      </p:sp>
      <p:sp>
        <p:nvSpPr>
          <p:cNvPr id="122" name="Text 120"/>
          <p:cNvSpPr txBox="1"/>
          <p:nvPr/>
        </p:nvSpPr>
        <p:spPr>
          <a:xfrm>
            <a:off x="11149279" y="41239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</a:t>
            </a:r>
            <a:endParaRPr lang="en-US" sz="850" dirty="0"/>
          </a:p>
        </p:txBody>
      </p:sp>
      <p:sp>
        <p:nvSpPr>
          <p:cNvPr id="123" name="Text 121"/>
          <p:cNvSpPr txBox="1"/>
          <p:nvPr/>
        </p:nvSpPr>
        <p:spPr>
          <a:xfrm>
            <a:off x="6206426" y="437540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750" dirty="0"/>
          </a:p>
        </p:txBody>
      </p:sp>
      <p:sp>
        <p:nvSpPr>
          <p:cNvPr id="124" name="Text 122"/>
          <p:cNvSpPr txBox="1"/>
          <p:nvPr/>
        </p:nvSpPr>
        <p:spPr>
          <a:xfrm>
            <a:off x="6608762" y="4366260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 — 23 deliverables, bi-weekly plan, RAID, governance</a:t>
            </a:r>
            <a:endParaRPr lang="en-US" sz="750" dirty="0"/>
          </a:p>
        </p:txBody>
      </p:sp>
      <p:sp>
        <p:nvSpPr>
          <p:cNvPr id="125" name="Text 123"/>
          <p:cNvSpPr txBox="1"/>
          <p:nvPr/>
        </p:nvSpPr>
        <p:spPr>
          <a:xfrm>
            <a:off x="9923983" y="437540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50" dirty="0"/>
          </a:p>
        </p:txBody>
      </p:sp>
      <p:sp>
        <p:nvSpPr>
          <p:cNvPr id="126" name="Text 124"/>
          <p:cNvSpPr txBox="1"/>
          <p:nvPr/>
        </p:nvSpPr>
        <p:spPr>
          <a:xfrm>
            <a:off x="10655503" y="43662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BD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850" dirty="0"/>
          </a:p>
        </p:txBody>
      </p:sp>
      <p:sp>
        <p:nvSpPr>
          <p:cNvPr id="127" name="Text 125"/>
          <p:cNvSpPr txBox="1"/>
          <p:nvPr/>
        </p:nvSpPr>
        <p:spPr>
          <a:xfrm>
            <a:off x="11149279" y="43662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8.00</a:t>
            </a:r>
            <a:endParaRPr lang="en-US" sz="850" dirty="0"/>
          </a:p>
        </p:txBody>
      </p:sp>
      <p:sp>
        <p:nvSpPr>
          <p:cNvPr id="128" name="Text 126"/>
          <p:cNvSpPr txBox="1"/>
          <p:nvPr/>
        </p:nvSpPr>
        <p:spPr>
          <a:xfrm>
            <a:off x="6206426" y="46177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750" dirty="0"/>
          </a:p>
        </p:txBody>
      </p:sp>
      <p:sp>
        <p:nvSpPr>
          <p:cNvPr id="129" name="Text 127"/>
          <p:cNvSpPr txBox="1"/>
          <p:nvPr/>
        </p:nvSpPr>
        <p:spPr>
          <a:xfrm>
            <a:off x="6608762" y="4608576"/>
            <a:ext cx="32695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tier-2/3 support from go-live — Comagine owns tier 1</a:t>
            </a:r>
            <a:endParaRPr lang="en-US" sz="750" dirty="0"/>
          </a:p>
        </p:txBody>
      </p:sp>
      <p:sp>
        <p:nvSpPr>
          <p:cNvPr id="130" name="Text 128"/>
          <p:cNvSpPr txBox="1"/>
          <p:nvPr/>
        </p:nvSpPr>
        <p:spPr>
          <a:xfrm>
            <a:off x="9923983" y="461772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50" dirty="0"/>
          </a:p>
        </p:txBody>
      </p:sp>
      <p:sp>
        <p:nvSpPr>
          <p:cNvPr id="131" name="Text 129"/>
          <p:cNvSpPr txBox="1"/>
          <p:nvPr/>
        </p:nvSpPr>
        <p:spPr>
          <a:xfrm>
            <a:off x="10655503" y="4608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BD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850" dirty="0"/>
          </a:p>
        </p:txBody>
      </p:sp>
      <p:sp>
        <p:nvSpPr>
          <p:cNvPr id="132" name="Text 130"/>
          <p:cNvSpPr txBox="1"/>
          <p:nvPr/>
        </p:nvSpPr>
        <p:spPr>
          <a:xfrm>
            <a:off x="11149279" y="4608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6206426" y="4896612"/>
            <a:ext cx="5418341" cy="0"/>
          </a:xfrm>
          <a:prstGeom prst="line">
            <a:avLst/>
          </a:prstGeom>
          <a:noFill/>
          <a:ln w="11430">
            <a:solidFill>
              <a:srgbClr val="C7CDC9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6608762" y="4951476"/>
            <a:ext cx="34066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product and Washington programme</a:t>
            </a:r>
            <a:endParaRPr lang="en-US" sz="800" dirty="0"/>
          </a:p>
        </p:txBody>
      </p:sp>
      <p:sp>
        <p:nvSpPr>
          <p:cNvPr id="135" name="Text 133"/>
          <p:cNvSpPr txBox="1"/>
          <p:nvPr/>
        </p:nvSpPr>
        <p:spPr>
          <a:xfrm>
            <a:off x="10655503" y="49331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15.50</a:t>
            </a:r>
            <a:endParaRPr lang="en-US" sz="950" dirty="0"/>
          </a:p>
        </p:txBody>
      </p:sp>
      <p:sp>
        <p:nvSpPr>
          <p:cNvPr id="136" name="Text 134"/>
          <p:cNvSpPr txBox="1"/>
          <p:nvPr/>
        </p:nvSpPr>
        <p:spPr>
          <a:xfrm>
            <a:off x="11149279" y="49331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34.00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566928" y="5760720"/>
            <a:ext cx="3317352" cy="713232"/>
          </a:xfrm>
          <a:prstGeom prst="roundRect">
            <a:avLst>
              <a:gd name="adj" fmla="val 2564"/>
            </a:avLst>
          </a:prstGeom>
          <a:solidFill>
            <a:srgbClr val="D6E8DF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749808" y="5833872"/>
            <a:ext cx="2951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E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 TOTAL</a:t>
            </a:r>
            <a:endParaRPr lang="en-US" sz="800" dirty="0"/>
          </a:p>
        </p:txBody>
      </p:sp>
      <p:sp>
        <p:nvSpPr>
          <p:cNvPr id="139" name="Text 137"/>
          <p:cNvSpPr txBox="1"/>
          <p:nvPr/>
        </p:nvSpPr>
        <p:spPr>
          <a:xfrm>
            <a:off x="749808" y="6016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31.35</a:t>
            </a:r>
            <a:endParaRPr lang="en-US" sz="1900" dirty="0"/>
          </a:p>
        </p:txBody>
      </p:sp>
      <p:sp>
        <p:nvSpPr>
          <p:cNvPr id="140" name="Text 138"/>
          <p:cNvSpPr txBox="1"/>
          <p:nvPr/>
        </p:nvSpPr>
        <p:spPr>
          <a:xfrm>
            <a:off x="749808" y="63276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 ·  44%</a:t>
            </a:r>
            <a:endParaRPr lang="en-US" sz="700" dirty="0"/>
          </a:p>
        </p:txBody>
      </p:sp>
      <p:sp>
        <p:nvSpPr>
          <p:cNvPr id="141" name="Text 139"/>
          <p:cNvSpPr txBox="1"/>
          <p:nvPr/>
        </p:nvSpPr>
        <p:spPr>
          <a:xfrm>
            <a:off x="2192640" y="6016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40.15</a:t>
            </a:r>
            <a:endParaRPr lang="en-US" sz="1900" dirty="0"/>
          </a:p>
        </p:txBody>
      </p:sp>
      <p:sp>
        <p:nvSpPr>
          <p:cNvPr id="142" name="Text 140"/>
          <p:cNvSpPr txBox="1"/>
          <p:nvPr/>
        </p:nvSpPr>
        <p:spPr>
          <a:xfrm>
            <a:off x="1918320" y="63276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 ·  56%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3994858" y="5760720"/>
            <a:ext cx="7629909" cy="713232"/>
          </a:xfrm>
          <a:prstGeom prst="roundRect">
            <a:avLst>
              <a:gd name="adj" fmla="val 2564"/>
            </a:avLst>
          </a:prstGeom>
          <a:solidFill>
            <a:srgbClr val="F5F5F0"/>
          </a:solidFill>
          <a:ln w="11430">
            <a:solidFill>
              <a:srgbClr val="C7CDC9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4196026" y="5833872"/>
            <a:ext cx="72275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LINE IS DRAWN, AND WHY PHASE 1 IS THE MOST CLIENT-HEAVY YEAR</a:t>
            </a:r>
            <a:endParaRPr lang="en-US" sz="800" dirty="0"/>
          </a:p>
        </p:txBody>
      </p:sp>
      <p:sp>
        <p:nvSpPr>
          <p:cNvPr id="145" name="Text 143"/>
          <p:cNvSpPr txBox="1"/>
          <p:nvPr/>
        </p:nvSpPr>
        <p:spPr>
          <a:xfrm>
            <a:off x="4196026" y="6016752"/>
            <a:ext cx="722757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is what the next deployment would not need built again; client is what it would. That is why 23.00 of Washington’s 40.15 — onboarding, programme management, operations and the WaTech review — carry no asset content at all: none of it travels. Conform-and-write and referral workflow are deliberately client-heavy because the mapping and the routing are Washington’s, not the product’s. Phase 1 is 44% asset; by CY2029 it is 61%, because the engines are built once and configured thereafter.</a:t>
            </a:r>
            <a:endParaRPr lang="en-US" sz="800" dirty="0"/>
          </a:p>
        </p:txBody>
      </p:sp>
      <p:sp>
        <p:nvSpPr>
          <p:cNvPr id="146" name="Text 144"/>
          <p:cNvSpPr txBox="1"/>
          <p:nvPr/>
        </p:nvSpPr>
        <p:spPr>
          <a:xfrm>
            <a:off x="566928" y="6565392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Connect360 platform  ·  C360 + WPCO worker experience on the platform  ·  PLATFORM accessibility, sovereignty and certification.   Ties to the Asset plan CY27-31 tab, rows 5–25.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&amp; 3 — Engines and Agents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by line: what IBM builds into the asset · what Washington configures and runs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CY2028–2031 · 120.00 asset FTE-months · 129.00 Washington delivery FTE-months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4644292" cy="310896"/>
          </a:xfrm>
          <a:prstGeom prst="roundRect">
            <a:avLst>
              <a:gd name="adj" fmla="val 5882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79576"/>
            <a:ext cx="43516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CY2028 · PHASE 2 — CARE COORDINATION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51790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v2.0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1499616"/>
            <a:ext cx="3226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care plan — cross-org plan, goals, tasks, ownership, consent-aware sharing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223668" y="15179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4735732" y="15087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18196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v2.0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1801368"/>
            <a:ext cx="3226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consent — element level, purpose-of-use, proxy and guardian delegation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223668" y="18196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4735732" y="18105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1214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v2.0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2103120"/>
            <a:ext cx="3226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team and household relationship model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223668" y="21214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4735732" y="21122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24231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v2.1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969264" y="2404872"/>
            <a:ext cx="3226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and equity analytics — cohorts, disparity measures, governed marts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223668" y="242316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23" name="Text 21"/>
          <p:cNvSpPr txBox="1"/>
          <p:nvPr/>
        </p:nvSpPr>
        <p:spPr>
          <a:xfrm>
            <a:off x="4735732" y="24140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7249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v2.1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969264" y="2706624"/>
            <a:ext cx="3226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measures and closed-loop reporting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223668" y="27249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4735732" y="27157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30266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v2.1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969264" y="3008376"/>
            <a:ext cx="3226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engineering — upgrade, regression, multi-tenant deployment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4223668" y="30266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4735732" y="3017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" y="3346704"/>
            <a:ext cx="4644292" cy="0"/>
          </a:xfrm>
          <a:prstGeom prst="line">
            <a:avLst/>
          </a:prstGeom>
          <a:noFill/>
          <a:ln w="11430">
            <a:solidFill>
              <a:srgbClr val="C7CDC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9264" y="3401568"/>
            <a:ext cx="3729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CY2028 asset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735732" y="33832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3730752"/>
            <a:ext cx="4644292" cy="1755648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3822192"/>
            <a:ext cx="43516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WASHINGTON DOES IN CY2028  —  42.00 FTE-MONTHS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023360"/>
            <a:ext cx="382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configuration of Phase 2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4571140" y="402336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4.00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197096"/>
            <a:ext cx="382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 wave 2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571140" y="419709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713232" y="4370832"/>
            <a:ext cx="382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and data expansion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4571140" y="437083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713232" y="4544568"/>
            <a:ext cx="382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recertification — HITRUST, SOC 2, pen test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4571140" y="454456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713232" y="4718304"/>
            <a:ext cx="382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tier-2/3 support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4571140" y="471830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713232" y="4892040"/>
            <a:ext cx="382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 and governance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4571140" y="489204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713232" y="5065776"/>
            <a:ext cx="382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change management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4571140" y="50657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713232" y="5239512"/>
            <a:ext cx="382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of the Phase 2 engines above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4571140" y="523951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32377" y="1115568"/>
            <a:ext cx="6192390" cy="310896"/>
          </a:xfrm>
          <a:prstGeom prst="roundRect">
            <a:avLst>
              <a:gd name="adj" fmla="val 5882"/>
            </a:avLst>
          </a:prstGeom>
          <a:solidFill>
            <a:srgbClr val="3A2E6B"/>
          </a:solidFill>
          <a:ln w="12700">
            <a:solidFill>
              <a:srgbClr val="3A2E6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578681" y="1179576"/>
            <a:ext cx="5899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CY2029–2031 · PHASE 3 — INTELLIGENCE, AGENTS, ORCHESTRATION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432377" y="1517904"/>
            <a:ext cx="6192390" cy="182880"/>
          </a:xfrm>
          <a:prstGeom prst="rect">
            <a:avLst/>
          </a:prstGeom>
          <a:solidFill>
            <a:srgbClr val="ECEDE8"/>
          </a:solidFill>
          <a:ln w="12700">
            <a:solidFill>
              <a:srgbClr val="ECEDE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23817" y="1527048"/>
            <a:ext cx="60095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CY2029 · asset 40.00 · Washington 26.00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5432377" y="1755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v3.0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5834713" y="1746504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— person, organisation, service and event entities, graph query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10600639" y="17556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60" name="Text 58"/>
          <p:cNvSpPr txBox="1"/>
          <p:nvPr/>
        </p:nvSpPr>
        <p:spPr>
          <a:xfrm>
            <a:off x="11149279" y="17465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5432377" y="19979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v3.0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5834713" y="1988820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engine — stages, milestones, timers, per-person state machine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10600639" y="199796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64" name="Text 62"/>
          <p:cNvSpPr txBox="1"/>
          <p:nvPr/>
        </p:nvSpPr>
        <p:spPr>
          <a:xfrm>
            <a:off x="11149279" y="19888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8.00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5432377" y="22402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v3.0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5834713" y="2231136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 — subscriptions, routing, delivery guarantees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10600639" y="224028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68" name="Text 66"/>
          <p:cNvSpPr txBox="1"/>
          <p:nvPr/>
        </p:nvSpPr>
        <p:spPr>
          <a:xfrm>
            <a:off x="11149279" y="22311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5432377" y="24825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v3.1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5834713" y="2473452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dispositioning — ingest, triage rules, routing to an accountable owner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10600639" y="24825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72" name="Text 70"/>
          <p:cNvSpPr txBox="1"/>
          <p:nvPr/>
        </p:nvSpPr>
        <p:spPr>
          <a:xfrm>
            <a:off x="11149279" y="24734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5432377" y="27249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v3.1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5834713" y="2715768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Whole-person ranking — need scoring with an explainable rationale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10600639" y="272491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11149279" y="27157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</a:t>
            </a:r>
            <a:endParaRPr 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5432377" y="296722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v3.1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5834713" y="2958084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and governance — tool registry, guardrails, human-in-the-loop, action audit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10600639" y="296722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3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650" dirty="0"/>
          </a:p>
        </p:txBody>
      </p:sp>
      <p:sp>
        <p:nvSpPr>
          <p:cNvPr id="80" name="Text 78"/>
          <p:cNvSpPr txBox="1"/>
          <p:nvPr/>
        </p:nvSpPr>
        <p:spPr>
          <a:xfrm>
            <a:off x="11149279" y="29580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432377" y="3227832"/>
            <a:ext cx="6192390" cy="182880"/>
          </a:xfrm>
          <a:prstGeom prst="rect">
            <a:avLst/>
          </a:prstGeom>
          <a:solidFill>
            <a:srgbClr val="ECEDE8"/>
          </a:solidFill>
          <a:ln w="12700">
            <a:solidFill>
              <a:srgbClr val="ECEDE8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523817" y="3236976"/>
            <a:ext cx="60095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CY2030 · asset 27.00 · Washington 33.00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5432377" y="346557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v4.0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5834713" y="3456432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dispatch and capacity matching — availability, hold, confirm, fallback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10600639" y="34655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86" name="Text 84"/>
          <p:cNvSpPr txBox="1"/>
          <p:nvPr/>
        </p:nvSpPr>
        <p:spPr>
          <a:xfrm>
            <a:off x="11149279" y="34564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8.00</a:t>
            </a:r>
            <a:endParaRPr 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5432377" y="37078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v4.0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5834713" y="3698748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agents — intake triage, referral follow-up, benefit navigation</a:t>
            </a:r>
            <a:endParaRPr lang="en-US" sz="750" dirty="0"/>
          </a:p>
        </p:txBody>
      </p:sp>
      <p:sp>
        <p:nvSpPr>
          <p:cNvPr id="89" name="Text 87"/>
          <p:cNvSpPr txBox="1"/>
          <p:nvPr/>
        </p:nvSpPr>
        <p:spPr>
          <a:xfrm>
            <a:off x="10600639" y="37078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3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650" dirty="0"/>
          </a:p>
        </p:txBody>
      </p:sp>
      <p:sp>
        <p:nvSpPr>
          <p:cNvPr id="90" name="Text 88"/>
          <p:cNvSpPr txBox="1"/>
          <p:nvPr/>
        </p:nvSpPr>
        <p:spPr>
          <a:xfrm>
            <a:off x="11149279" y="36987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9.00</a:t>
            </a:r>
            <a:endParaRPr 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5432377" y="39502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v4.1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5834713" y="3941064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 intelligence — explainable next-best-action against the plan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10600639" y="39502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94" name="Text 92"/>
          <p:cNvSpPr txBox="1"/>
          <p:nvPr/>
        </p:nvSpPr>
        <p:spPr>
          <a:xfrm>
            <a:off x="11149279" y="39410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</a:t>
            </a:r>
            <a:endParaRPr lang="en-US" sz="850" dirty="0"/>
          </a:p>
        </p:txBody>
      </p:sp>
      <p:sp>
        <p:nvSpPr>
          <p:cNvPr id="95" name="Text 93"/>
          <p:cNvSpPr txBox="1"/>
          <p:nvPr/>
        </p:nvSpPr>
        <p:spPr>
          <a:xfrm>
            <a:off x="5432377" y="41925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v4.1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5834713" y="4183380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evaluation harness, drift monitoring and red-team suite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10600639" y="4192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3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650" dirty="0"/>
          </a:p>
        </p:txBody>
      </p:sp>
      <p:sp>
        <p:nvSpPr>
          <p:cNvPr id="98" name="Text 96"/>
          <p:cNvSpPr txBox="1"/>
          <p:nvPr/>
        </p:nvSpPr>
        <p:spPr>
          <a:xfrm>
            <a:off x="11149279" y="41833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4.00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5432377" y="4453128"/>
            <a:ext cx="6192390" cy="182880"/>
          </a:xfrm>
          <a:prstGeom prst="rect">
            <a:avLst/>
          </a:prstGeom>
          <a:solidFill>
            <a:srgbClr val="ECEDE8"/>
          </a:solidFill>
          <a:ln w="12700">
            <a:solidFill>
              <a:srgbClr val="ECEDE8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523817" y="4462272"/>
            <a:ext cx="60095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CY2031 · asset 30.00 · Washington 28.00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5432377" y="46908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v5.0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5834713" y="4681728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across journeys — supervisor, escalation, hand-off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10600639" y="4690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3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650" dirty="0"/>
          </a:p>
        </p:txBody>
      </p:sp>
      <p:sp>
        <p:nvSpPr>
          <p:cNvPr id="104" name="Text 102"/>
          <p:cNvSpPr txBox="1"/>
          <p:nvPr/>
        </p:nvSpPr>
        <p:spPr>
          <a:xfrm>
            <a:off x="11149279" y="46817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9.00</a:t>
            </a:r>
            <a:endParaRPr lang="en-US" sz="850" dirty="0"/>
          </a:p>
        </p:txBody>
      </p:sp>
      <p:sp>
        <p:nvSpPr>
          <p:cNvPr id="105" name="Text 103"/>
          <p:cNvSpPr txBox="1"/>
          <p:nvPr/>
        </p:nvSpPr>
        <p:spPr>
          <a:xfrm>
            <a:off x="5432377" y="49331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v5.0</a:t>
            </a:r>
            <a:endParaRPr lang="en-US" sz="750" dirty="0"/>
          </a:p>
        </p:txBody>
      </p:sp>
      <p:sp>
        <p:nvSpPr>
          <p:cNvPr id="106" name="Text 104"/>
          <p:cNvSpPr txBox="1"/>
          <p:nvPr/>
        </p:nvSpPr>
        <p:spPr>
          <a:xfrm>
            <a:off x="5834713" y="4924044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measurement — attribution, cohort outcomes, programme effectiveness</a:t>
            </a:r>
            <a:endParaRPr lang="en-US" sz="750" dirty="0"/>
          </a:p>
        </p:txBody>
      </p:sp>
      <p:sp>
        <p:nvSpPr>
          <p:cNvPr id="107" name="Text 105"/>
          <p:cNvSpPr txBox="1"/>
          <p:nvPr/>
        </p:nvSpPr>
        <p:spPr>
          <a:xfrm>
            <a:off x="10600639" y="493318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</a:t>
            </a:r>
            <a:endParaRPr lang="en-US" sz="650" dirty="0"/>
          </a:p>
        </p:txBody>
      </p:sp>
      <p:sp>
        <p:nvSpPr>
          <p:cNvPr id="108" name="Text 106"/>
          <p:cNvSpPr txBox="1"/>
          <p:nvPr/>
        </p:nvSpPr>
        <p:spPr>
          <a:xfrm>
            <a:off x="11149279" y="49240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5432377" y="517550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v5.1</a:t>
            </a:r>
            <a:endParaRPr lang="en-US" sz="750" dirty="0"/>
          </a:p>
        </p:txBody>
      </p:sp>
      <p:sp>
        <p:nvSpPr>
          <p:cNvPr id="110" name="Text 108"/>
          <p:cNvSpPr txBox="1"/>
          <p:nvPr/>
        </p:nvSpPr>
        <p:spPr>
          <a:xfrm>
            <a:off x="5834713" y="5166360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studio — rules, forms and journeys changed without code</a:t>
            </a:r>
            <a:endParaRPr lang="en-US" sz="750" dirty="0"/>
          </a:p>
        </p:txBody>
      </p:sp>
      <p:sp>
        <p:nvSpPr>
          <p:cNvPr id="111" name="Text 109"/>
          <p:cNvSpPr txBox="1"/>
          <p:nvPr/>
        </p:nvSpPr>
        <p:spPr>
          <a:xfrm>
            <a:off x="10600639" y="517550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</a:t>
            </a:r>
            <a:endParaRPr lang="en-US" sz="650" dirty="0"/>
          </a:p>
        </p:txBody>
      </p:sp>
      <p:sp>
        <p:nvSpPr>
          <p:cNvPr id="112" name="Text 110"/>
          <p:cNvSpPr txBox="1"/>
          <p:nvPr/>
        </p:nvSpPr>
        <p:spPr>
          <a:xfrm>
            <a:off x="11149279" y="51663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7.00</a:t>
            </a:r>
            <a:endParaRPr lang="en-US" sz="850" dirty="0"/>
          </a:p>
        </p:txBody>
      </p:sp>
      <p:sp>
        <p:nvSpPr>
          <p:cNvPr id="113" name="Text 111"/>
          <p:cNvSpPr txBox="1"/>
          <p:nvPr/>
        </p:nvSpPr>
        <p:spPr>
          <a:xfrm>
            <a:off x="5432377" y="54178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v5.1</a:t>
            </a:r>
            <a:endParaRPr lang="en-US" sz="750" dirty="0"/>
          </a:p>
        </p:txBody>
      </p:sp>
      <p:sp>
        <p:nvSpPr>
          <p:cNvPr id="114" name="Text 112"/>
          <p:cNvSpPr txBox="1"/>
          <p:nvPr/>
        </p:nvSpPr>
        <p:spPr>
          <a:xfrm>
            <a:off x="5834713" y="5408676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expansion — TEFCA / QHIN, bulk FHIR, further profiles</a:t>
            </a:r>
            <a:endParaRPr lang="en-US" sz="750" dirty="0"/>
          </a:p>
        </p:txBody>
      </p:sp>
      <p:sp>
        <p:nvSpPr>
          <p:cNvPr id="115" name="Text 113"/>
          <p:cNvSpPr txBox="1"/>
          <p:nvPr/>
        </p:nvSpPr>
        <p:spPr>
          <a:xfrm>
            <a:off x="10600639" y="54178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</a:t>
            </a:r>
            <a:endParaRPr lang="en-US" sz="650" dirty="0"/>
          </a:p>
        </p:txBody>
      </p:sp>
      <p:sp>
        <p:nvSpPr>
          <p:cNvPr id="116" name="Text 114"/>
          <p:cNvSpPr txBox="1"/>
          <p:nvPr/>
        </p:nvSpPr>
        <p:spPr>
          <a:xfrm>
            <a:off x="11149279" y="54086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</a:t>
            </a:r>
            <a:endParaRPr lang="en-US" sz="850" dirty="0"/>
          </a:p>
        </p:txBody>
      </p:sp>
      <p:sp>
        <p:nvSpPr>
          <p:cNvPr id="117" name="Text 115"/>
          <p:cNvSpPr txBox="1"/>
          <p:nvPr/>
        </p:nvSpPr>
        <p:spPr>
          <a:xfrm>
            <a:off x="5432377" y="56601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v5.1</a:t>
            </a:r>
            <a:endParaRPr lang="en-US" sz="750" dirty="0"/>
          </a:p>
        </p:txBody>
      </p:sp>
      <p:sp>
        <p:nvSpPr>
          <p:cNvPr id="118" name="Text 116"/>
          <p:cNvSpPr txBox="1"/>
          <p:nvPr/>
        </p:nvSpPr>
        <p:spPr>
          <a:xfrm>
            <a:off x="5834713" y="5650992"/>
            <a:ext cx="4729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Multi-deployment hardening and upgrade automation</a:t>
            </a:r>
            <a:endParaRPr lang="en-US" sz="750" dirty="0"/>
          </a:p>
        </p:txBody>
      </p:sp>
      <p:sp>
        <p:nvSpPr>
          <p:cNvPr id="119" name="Text 117"/>
          <p:cNvSpPr txBox="1"/>
          <p:nvPr/>
        </p:nvSpPr>
        <p:spPr>
          <a:xfrm>
            <a:off x="10600639" y="566013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</a:t>
            </a:r>
            <a:endParaRPr lang="en-US" sz="650" dirty="0"/>
          </a:p>
        </p:txBody>
      </p:sp>
      <p:sp>
        <p:nvSpPr>
          <p:cNvPr id="120" name="Text 118"/>
          <p:cNvSpPr txBox="1"/>
          <p:nvPr/>
        </p:nvSpPr>
        <p:spPr>
          <a:xfrm>
            <a:off x="11149279" y="56509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566928" y="6400800"/>
            <a:ext cx="11057839" cy="329184"/>
          </a:xfrm>
          <a:prstGeom prst="roundRect">
            <a:avLst>
              <a:gd name="adj" fmla="val 5556"/>
            </a:avLst>
          </a:prstGeom>
          <a:solidFill>
            <a:srgbClr val="EDE7F4"/>
          </a:solidFill>
          <a:ln w="11430">
            <a:solidFill>
              <a:srgbClr val="7A5CB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31520" y="647395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Connect360 platform  ·  WPCO whole-person intelligence engine  ·  AGENT agentic runtime, agents and assurance  ·  PLAT platform engineering.   Washington’s 87.00 FTE-months in CY2029–31 are configuration of these engines, notification and dispatch onboarding, operations, recertification and governance — not construction.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Washington Funds · What IBM Funds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position is set — the asset is developed and absorbed as base asset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fallbacks below exist only if the product investment board declines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 — WHERE EVERY FTE-MONTH SITS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5669280" cy="237744"/>
          </a:xfrm>
          <a:prstGeom prst="rect">
            <a:avLst/>
          </a:prstGeom>
          <a:solidFill>
            <a:srgbClr val="003B6F"/>
          </a:solidFill>
          <a:ln w="12700">
            <a:solidFill>
              <a:srgbClr val="003B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4173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14173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276088" y="14173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1627632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627632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1627632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16733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consent · provenance · RBAC · event log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1673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6.65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1673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" y="1883664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0248" y="1883664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0368" y="1883664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19293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façade · domain verbs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315968" y="19293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276088" y="19293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" y="2139696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70248" y="2139696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0368" y="2139696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" y="21854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portal · projection · resolver · directory adapter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315968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15.50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66928" y="2395728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0248" y="2395728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0368" y="2395728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" y="2441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· Tribal sovereignty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315968" y="2441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2441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6928" y="2651760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70248" y="2651760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0368" y="2651760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" y="26974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HITRUST / SOC 2  ·  WaTech SDR + PTA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4315968" y="2697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5276088" y="2697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" y="2907792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0248" y="2907792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30368" y="2907792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6656" y="2953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 (6–8)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4315968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5276088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66928" y="3163824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70248" y="3163824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30368" y="3163824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76656" y="32095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 · 23 deliverables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315968" y="32095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5276088" y="32095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66928" y="3419856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70248" y="3419856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30368" y="3419856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76656" y="34655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tier-2/3 support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4315968" y="34655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5276088" y="34655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66928" y="3675888"/>
            <a:ext cx="5669280" cy="274320"/>
          </a:xfrm>
          <a:prstGeom prst="rect">
            <a:avLst/>
          </a:prstGeom>
          <a:solidFill>
            <a:srgbClr val="E8EAE5"/>
          </a:solidFill>
          <a:ln w="6350">
            <a:solidFill>
              <a:srgbClr val="C7CDC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76656" y="37307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 total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4315968" y="3721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31.35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276088" y="3721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40.15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66928" y="4059936"/>
            <a:ext cx="2483145" cy="274320"/>
          </a:xfrm>
          <a:prstGeom prst="rect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50073" y="4059936"/>
            <a:ext cx="3186135" cy="2743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76656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 ASSET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3159801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 CLIENT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601968" y="1152144"/>
            <a:ext cx="50227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POSITION AND TWO FALLBACKS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601968" y="1389888"/>
            <a:ext cx="5022799" cy="1316736"/>
          </a:xfrm>
          <a:prstGeom prst="roundRect">
            <a:avLst>
              <a:gd name="adj" fmla="val 1389"/>
            </a:avLst>
          </a:prstGeom>
          <a:solidFill>
            <a:srgbClr val="E4EFEA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748272" y="14813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205472" y="1508760"/>
            <a:ext cx="4245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POSITION — absorbed into the base asset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6748272" y="1792224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product investment</a:t>
            </a:r>
            <a:endParaRPr lang="en-US" sz="650" dirty="0"/>
          </a:p>
        </p:txBody>
      </p:sp>
      <p:sp>
        <p:nvSpPr>
          <p:cNvPr id="72" name="Text 70"/>
          <p:cNvSpPr txBox="1"/>
          <p:nvPr/>
        </p:nvSpPr>
        <p:spPr>
          <a:xfrm>
            <a:off x="6748272" y="1956816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$5.56M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8325002" y="1792224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five-year price</a:t>
            </a:r>
            <a:endParaRPr lang="en-US" sz="650" dirty="0"/>
          </a:p>
        </p:txBody>
      </p:sp>
      <p:sp>
        <p:nvSpPr>
          <p:cNvPr id="74" name="Text 72"/>
          <p:cNvSpPr txBox="1"/>
          <p:nvPr/>
        </p:nvSpPr>
        <p:spPr>
          <a:xfrm>
            <a:off x="8325002" y="1956816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$9.63M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9901733" y="1792224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advantage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9901733" y="1956816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$6.18M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748272" y="2249424"/>
            <a:ext cx="4730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151.35 asset FTE-months carried on the IBM product P&amp;L across all five years. Washington is charged for its deployment only. Strongest cost score and the cleanest product story.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601968" y="2779776"/>
            <a:ext cx="5022799" cy="1316736"/>
          </a:xfrm>
          <a:prstGeom prst="roundRect">
            <a:avLst>
              <a:gd name="adj" fmla="val 1389"/>
            </a:avLst>
          </a:prstGeom>
          <a:solidFill>
            <a:srgbClr val="E7DCC2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748272" y="28712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7205472" y="2898648"/>
            <a:ext cx="4245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— half absorbed from CY2029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6748272" y="3182112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product investment</a:t>
            </a:r>
            <a:endParaRPr lang="en-US" sz="650" dirty="0"/>
          </a:p>
        </p:txBody>
      </p:sp>
      <p:sp>
        <p:nvSpPr>
          <p:cNvPr id="82" name="Text 80"/>
          <p:cNvSpPr txBox="1"/>
          <p:nvPr/>
        </p:nvSpPr>
        <p:spPr>
          <a:xfrm>
            <a:off x="6748272" y="3346704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$3.78M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8325002" y="3182112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five-year price</a:t>
            </a:r>
            <a:endParaRPr lang="en-US" sz="650" dirty="0"/>
          </a:p>
        </p:txBody>
      </p:sp>
      <p:sp>
        <p:nvSpPr>
          <p:cNvPr id="84" name="Text 82"/>
          <p:cNvSpPr txBox="1"/>
          <p:nvPr/>
        </p:nvSpPr>
        <p:spPr>
          <a:xfrm>
            <a:off x="8325002" y="3346704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$11.61M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9901733" y="3182112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advantage</a:t>
            </a:r>
            <a:endParaRPr lang="en-US" sz="650" dirty="0"/>
          </a:p>
        </p:txBody>
      </p:sp>
      <p:sp>
        <p:nvSpPr>
          <p:cNvPr id="86" name="Text 84"/>
          <p:cNvSpPr txBox="1"/>
          <p:nvPr/>
        </p:nvSpPr>
        <p:spPr>
          <a:xfrm>
            <a:off x="9901733" y="3346704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$4.20M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748272" y="3639312"/>
            <a:ext cx="4730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product investment board will not carry the renewal years, IBM absorbs the committed years in full and splits CY2029–31. Still clears every ceiling.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601968" y="4169664"/>
            <a:ext cx="5022799" cy="1316736"/>
          </a:xfrm>
          <a:prstGeom prst="roundRect">
            <a:avLst>
              <a:gd name="adj" fmla="val 1389"/>
            </a:avLst>
          </a:prstGeom>
          <a:solidFill>
            <a:srgbClr val="E7EEF6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748272" y="42611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7205472" y="4288536"/>
            <a:ext cx="4245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 — committed years only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6748272" y="4572000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product investment</a:t>
            </a:r>
            <a:endParaRPr lang="en-US" sz="650" dirty="0"/>
          </a:p>
        </p:txBody>
      </p:sp>
      <p:sp>
        <p:nvSpPr>
          <p:cNvPr id="92" name="Text 90"/>
          <p:cNvSpPr txBox="1"/>
          <p:nvPr/>
        </p:nvSpPr>
        <p:spPr>
          <a:xfrm>
            <a:off x="6748272" y="4736592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$2.00M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8325002" y="4572000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five-year price</a:t>
            </a:r>
            <a:endParaRPr lang="en-US" sz="650" dirty="0"/>
          </a:p>
        </p:txBody>
      </p:sp>
      <p:sp>
        <p:nvSpPr>
          <p:cNvPr id="94" name="Text 92"/>
          <p:cNvSpPr txBox="1"/>
          <p:nvPr/>
        </p:nvSpPr>
        <p:spPr>
          <a:xfrm>
            <a:off x="8325002" y="4736592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$13.59M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9901733" y="4572000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advantage</a:t>
            </a:r>
            <a:endParaRPr lang="en-US" sz="650" dirty="0"/>
          </a:p>
        </p:txBody>
      </p:sp>
      <p:sp>
        <p:nvSpPr>
          <p:cNvPr id="96" name="Text 94"/>
          <p:cNvSpPr txBox="1"/>
          <p:nvPr/>
        </p:nvSpPr>
        <p:spPr>
          <a:xfrm>
            <a:off x="9901733" y="4736592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$2.22M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748272" y="5029200"/>
            <a:ext cx="4730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that works. Asset work in the renewal years is charged to Washington. Weakest cost score of the three and the hardest to defend as a product.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66928" y="5632704"/>
            <a:ext cx="11057839" cy="512064"/>
          </a:xfrm>
          <a:prstGeom prst="roundRect">
            <a:avLst>
              <a:gd name="adj" fmla="val 3571"/>
            </a:avLst>
          </a:prstGeom>
          <a:solidFill>
            <a:srgbClr val="003B6F"/>
          </a:solidFill>
          <a:ln w="12700">
            <a:solidFill>
              <a:srgbClr val="003B6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59536" y="5760720"/>
            <a:ext cx="10472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asset is developed and absorbed as base asset. Washington funds its deployment; IBM funds the product. Say it in the proposal rather than leaving it implicit.</a:t>
            </a:r>
            <a:endParaRPr lang="en-US" sz="1150" dirty="0"/>
          </a:p>
        </p:txBody>
      </p:sp>
      <p:sp>
        <p:nvSpPr>
          <p:cNvPr id="100" name="Text 98"/>
          <p:cNvSpPr txBox="1"/>
          <p:nvPr/>
        </p:nvSpPr>
        <p:spPr>
          <a:xfrm>
            <a:off x="566928" y="625449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 that charges all asset development to Washington does NOT clear the CY2027 ceiling — it is $108,472 over, and prices at $15.81M. Absorption is not only the strongest position, it is what makes the bid responsive at all. Price advantage is measured against that fully-loaded bid. Cost is 300 of 1000 points, scored as (lowest evaluated cost ÷ ours) × 300 across the full five-year period.</a:t>
            </a:r>
            <a:endParaRPr lang="en-US" sz="800" dirty="0"/>
          </a:p>
        </p:txBody>
      </p:sp>
      <p:sp>
        <p:nvSpPr>
          <p:cNvPr id="101" name="Text 99"/>
          <p:cNvSpPr txBox="1"/>
          <p:nvPr/>
        </p:nvSpPr>
        <p:spPr>
          <a:xfrm>
            <a:off x="566928" y="6620256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ties to the Asset vs Client and Funding scenarios tabs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Positions, Year by Year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adopted position, its two fallbacks, and the boundary case that proves it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figures $M · every year tested against its own ceiling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$9.63M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FIVE-YEAR PRICE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 · against a $17.3M envelope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7710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485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A5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$5.56M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1485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PRODUCT INVESTMENT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1485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 as base asset, all five years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8728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$6.18M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503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ADVANTAGE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2503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 bid that charges the product build to the state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97467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211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$7.67M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235211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235211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clear of its ceiling at a 10% margin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57839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1225296"/>
                <a:gridCol w="1225296"/>
                <a:gridCol w="1225296"/>
                <a:gridCol w="1225296"/>
                <a:gridCol w="1225296"/>
                <a:gridCol w="1316736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CY2027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CY2028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CY2029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CY2030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CY2031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FIVE-YEAR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base · Washington 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45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base · IBM investment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45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A9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fallback · Washington 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974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fallback · IBM investment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974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floor · Washington 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5F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floor · IBM investment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5F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44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— no absorption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A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ceiling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66928" y="4663440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The boundary case is the only row that breaches a ceiling — CY2027 at $3.51M against $3.40M, over by $108,472. That is what makes absorption a matter of responsiveness rather than generosity.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6928" y="4937760"/>
            <a:ext cx="2641016" cy="1280160"/>
          </a:xfrm>
          <a:prstGeom prst="roundRect">
            <a:avLst>
              <a:gd name="adj" fmla="val 1429"/>
            </a:avLst>
          </a:prstGeom>
          <a:solidFill>
            <a:srgbClr val="E4EFEA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4944" y="5020056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BASE POSITION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" y="5193792"/>
            <a:ext cx="238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absorbed, all years</a:t>
            </a:r>
            <a:endParaRPr lang="en-US" sz="7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" y="5394960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Asset work charged to Washington: none</a:t>
            </a:r>
            <a:endParaRPr lang="en-US" sz="700" dirty="0"/>
          </a:p>
        </p:txBody>
      </p:sp>
      <p:sp>
        <p:nvSpPr>
          <p:cNvPr id="28" name="Text 25"/>
          <p:cNvSpPr txBox="1"/>
          <p:nvPr/>
        </p:nvSpPr>
        <p:spPr>
          <a:xfrm>
            <a:off x="694944" y="5586984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Procurement-integrity exposure: none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694944" y="577900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Recovered from future deployments of the product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" y="5971032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Strongest cost score of the four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3372536" y="4937760"/>
            <a:ext cx="2641016" cy="1280160"/>
          </a:xfrm>
          <a:prstGeom prst="roundRect">
            <a:avLst>
              <a:gd name="adj" fmla="val 1429"/>
            </a:avLst>
          </a:prstGeom>
          <a:solidFill>
            <a:srgbClr val="E7DCC2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00552" y="5020056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FALLBACK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3500552" y="5193792"/>
            <a:ext cx="238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absorbed CY2029–31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3500552" y="5394960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Asset work charged to Washington: half of CY2029–31</a:t>
            </a:r>
            <a:endParaRPr lang="en-US" sz="700" dirty="0"/>
          </a:p>
        </p:txBody>
      </p:sp>
      <p:sp>
        <p:nvSpPr>
          <p:cNvPr id="35" name="Text 32"/>
          <p:cNvSpPr txBox="1"/>
          <p:nvPr/>
        </p:nvSpPr>
        <p:spPr>
          <a:xfrm>
            <a:off x="3500552" y="5586984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Exposure: low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3500552" y="577900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Recovered part from renewals, part from the product</a:t>
            </a:r>
            <a:endParaRPr lang="en-US" sz="700" dirty="0"/>
          </a:p>
        </p:txBody>
      </p:sp>
      <p:sp>
        <p:nvSpPr>
          <p:cNvPr id="37" name="Text 34"/>
          <p:cNvSpPr txBox="1"/>
          <p:nvPr/>
        </p:nvSpPr>
        <p:spPr>
          <a:xfrm>
            <a:off x="3500552" y="5971032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Clears every ceiling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178144" y="4937760"/>
            <a:ext cx="2641016" cy="1280160"/>
          </a:xfrm>
          <a:prstGeom prst="roundRect">
            <a:avLst>
              <a:gd name="adj" fmla="val 1429"/>
            </a:avLst>
          </a:prstGeom>
          <a:solidFill>
            <a:srgbClr val="E7EEF6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06160" y="5020056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FLOOR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6306160" y="5193792"/>
            <a:ext cx="238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years only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306160" y="5394960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Asset work charged to Washington: all of CY2029–31</a:t>
            </a:r>
            <a:endParaRPr lang="en-US" sz="700" dirty="0"/>
          </a:p>
        </p:txBody>
      </p:sp>
      <p:sp>
        <p:nvSpPr>
          <p:cNvPr id="42" name="Text 39"/>
          <p:cNvSpPr txBox="1"/>
          <p:nvPr/>
        </p:nvSpPr>
        <p:spPr>
          <a:xfrm>
            <a:off x="6306160" y="5586984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Exposure: live in CY2029–31</a:t>
            </a:r>
            <a:endParaRPr lang="en-US" sz="700" dirty="0"/>
          </a:p>
        </p:txBody>
      </p:sp>
      <p:sp>
        <p:nvSpPr>
          <p:cNvPr id="43" name="Text 40"/>
          <p:cNvSpPr txBox="1"/>
          <p:nvPr/>
        </p:nvSpPr>
        <p:spPr>
          <a:xfrm>
            <a:off x="6306160" y="577900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Recovered from renewals, or a second deal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306160" y="5971032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minimum that still works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8983751" y="4937760"/>
            <a:ext cx="2641016" cy="1280160"/>
          </a:xfrm>
          <a:prstGeom prst="roundRect">
            <a:avLst>
              <a:gd name="adj" fmla="val 1429"/>
            </a:avLst>
          </a:prstGeom>
          <a:solidFill>
            <a:srgbClr val="F6E7E2"/>
          </a:solidFill>
          <a:ln w="12700">
            <a:solidFill>
              <a:srgbClr val="B4462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11767" y="5020056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9111767" y="5193792"/>
            <a:ext cx="238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absorption</a:t>
            </a:r>
            <a:endParaRPr lang="en-US" sz="700" dirty="0"/>
          </a:p>
        </p:txBody>
      </p:sp>
      <p:sp>
        <p:nvSpPr>
          <p:cNvPr id="48" name="Text 45"/>
          <p:cNvSpPr txBox="1"/>
          <p:nvPr/>
        </p:nvSpPr>
        <p:spPr>
          <a:xfrm>
            <a:off x="9111767" y="5394960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Asset work charged to Washington: all, every year</a:t>
            </a:r>
            <a:endParaRPr lang="en-US" sz="700" dirty="0"/>
          </a:p>
        </p:txBody>
      </p:sp>
      <p:sp>
        <p:nvSpPr>
          <p:cNvPr id="49" name="Text 46"/>
          <p:cNvSpPr txBox="1"/>
          <p:nvPr/>
        </p:nvSpPr>
        <p:spPr>
          <a:xfrm>
            <a:off x="9111767" y="5586984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Bid may be deemed nonresponsive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9111767" y="577900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 an option — retained as proof</a:t>
            </a:r>
            <a:endParaRPr lang="en-US" sz="700" dirty="0"/>
          </a:p>
        </p:txBody>
      </p:sp>
      <p:sp>
        <p:nvSpPr>
          <p:cNvPr id="51" name="Text 48"/>
          <p:cNvSpPr txBox="1"/>
          <p:nvPr/>
        </p:nvSpPr>
        <p:spPr>
          <a:xfrm>
            <a:off x="9111767" y="5971032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CY2027 over by $108,472</a:t>
            </a:r>
            <a:endParaRPr lang="en-US" sz="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63276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 is adopted (assumption A25). B and C exist only if the product investment board will not carry the renewal years. If no renewal is ever exercised, IBM has spent $1,997,362 under any of the three — the committed-year asset work — and nothing further. Cost is 300 of 1000 points, scored as (lowest evaluated cost ÷ ours) × 300 across the full five-year period; the price advantage above is measured against the $15,809,306 fully-loaded bid.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6711696"/>
            <a:ext cx="110578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 ·  ties to the Funding scenarios tab  ·  US-only delivery per RFP Sec. 3.6.4  ·  rates are assumptions pending the rate card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06j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Re-derivation Against Evidence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Connect360 corrected by its product owner · the WPCO codebase read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on proofs P1–P8 · the deck body keeps the verified baseline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−32.00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FTE-MONTHS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151.35 → 119.35 across five years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7710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485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A5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−$1.18M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1485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INVESTMENT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1485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$5.56M → $4.39M · a 21% reduction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8728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$9.63M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503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PRICE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2503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— no client line moved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97467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211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235211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OUTSTANDING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235211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P1–P8 · none costs more than an hour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" y="2286000"/>
            <a:ext cx="5750076" cy="292608"/>
          </a:xfrm>
          <a:prstGeom prst="roundRect">
            <a:avLst>
              <a:gd name="adj" fmla="val 6250"/>
            </a:avLst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2340864"/>
            <a:ext cx="54574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CONNECT360 — CORRECTED BY THE PRODUCT OWNER, 17 SEP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67004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26700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enforcement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2340864" y="26700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covered at the platform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242816" y="2670048"/>
            <a:ext cx="2074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 a Part-2 record from a CBO search, live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28849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28849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2340864" y="28849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HITRUST certified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242816" y="2884932"/>
            <a:ext cx="2074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certificate, scope boundary, what the joint solution inherits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30998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30998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UI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2340864" y="30998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exists, needs extension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242816" y="3099816"/>
            <a:ext cx="2074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screen; agree the extension list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331470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896112" y="33147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2340864" y="33147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controls present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4242816" y="3314700"/>
            <a:ext cx="2074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 and a denied cross-org read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352958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896112" y="35295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2340864" y="35295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own directory provided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4242816" y="3529584"/>
            <a:ext cx="2074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currency and the statewide federation path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37444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896112" y="37444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matching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2340864" y="37444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PIX / PDQ supported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4242816" y="3744468"/>
            <a:ext cx="2074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PIX query; agree the WPCO integration contract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39593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896112" y="39593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2340864" y="39593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supported, incl. non-clinical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242816" y="3959352"/>
            <a:ext cx="2074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tracked non-clinical referral through to close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566928" y="417423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P8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896112" y="41742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2340864" y="41742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handling based on NAS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4242816" y="4174236"/>
            <a:ext cx="2074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fan-out, ordering and replay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566928" y="4443984"/>
            <a:ext cx="5750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stated by the product owner, not yet demonstrated to us.  Product-owner knowledge of their own platform outranks an outsider’s API probe — it does not outrank a demonstration, and the demonstration scores 350 points.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538161" y="2286000"/>
            <a:ext cx="5086606" cy="292608"/>
          </a:xfrm>
          <a:prstGeom prst="roundRect">
            <a:avLst>
              <a:gd name="adj" fmla="val 6250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84465" y="2340864"/>
            <a:ext cx="47939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32.00 FTE-MONTHS CAME OFF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8161" y="2670048"/>
          <a:ext cx="5086606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658368"/>
                <a:gridCol w="658368"/>
                <a:gridCol w="658368"/>
                <a:gridCol w="2606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EARNED THE CREDIT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23.85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−7.50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C360 consent, RBAC, directory, PIX/PDQ, referral, NAS, worker UI, HITRUST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−5.00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carePlan + careTeam 4,104 LOC · cohort and region routes · CI ratchets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−11.50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7,844 LOC / 101 tests · sde 1,775 · agentRuntime real-impl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2030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−5.00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HITL agent manifests with allowlists · carePlan 2,188 LOC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−3.00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26,639 LOC is already policy-as-data · measures thin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151.35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45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119.35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−32.00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 of five-year effort is asset, down from 47%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0" name="Shape 57"/>
          <p:cNvSpPr/>
          <p:nvPr/>
        </p:nvSpPr>
        <p:spPr>
          <a:xfrm>
            <a:off x="6538161" y="4572000"/>
            <a:ext cx="5086606" cy="877824"/>
          </a:xfrm>
          <a:prstGeom prst="roundRect">
            <a:avLst>
              <a:gd name="adj" fmla="val 2083"/>
            </a:avLst>
          </a:prstGeom>
          <a:solidFill>
            <a:srgbClr val="EDE7F4"/>
          </a:solidFill>
          <a:ln w="12700">
            <a:solidFill>
              <a:srgbClr val="7A5CB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702753" y="4645152"/>
            <a:ext cx="47574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3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CODEBASE DID NOT EARN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6702753" y="4828032"/>
            <a:ext cx="47574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(9.00), the agent evaluation harness (4.00), TEFCA / QHIN (5.00), granular consent (4.00 — the register’s own F2 says Part-2 segmentation is a blunt drop on a wrong basis) and the integration façade and verb set (4.50) are unchanged. Dispatch is a 378-line skeleton and earned almost nothing.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66928" y="5577840"/>
            <a:ext cx="11057839" cy="548640"/>
          </a:xfrm>
          <a:prstGeom prst="roundRect">
            <a:avLst>
              <a:gd name="adj" fmla="val 3333"/>
            </a:avLst>
          </a:prstGeom>
          <a:solidFill>
            <a:srgbClr val="D6E8DF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2960" y="5705856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cut IBM’s investment, not Washington’s price. Under position A the client column sets the bid, and not one client line moved — the state still pays $9,629,181 over five years.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566928" y="6236208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applied: evidence moves a line from BUILD to INTEGRATE or EXTEND. It never moves a line to zero — integration, extension and hardening are real work — and it never touches the client column. All 24 changed lines carry a stated reason in the Re-derivation v2 tab. The deck body still carries the verified 151.35 / 31.35 baseline, because a ◐ must not be shown to Washington as fact; it is re-numbered when P1–P8 land.</a:t>
            </a:r>
            <a:endParaRPr lang="en-US" sz="800" dirty="0"/>
          </a:p>
        </p:txBody>
      </p:sp>
      <p:sp>
        <p:nvSpPr>
          <p:cNvPr id="66" name="Text 63"/>
          <p:cNvSpPr txBox="1"/>
          <p:nvPr/>
        </p:nvSpPr>
        <p:spPr>
          <a:xfrm>
            <a:off x="566928" y="6729984"/>
            <a:ext cx="110578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 ·  class-4 estimate, conditional on P1–P8  ·  ties to the Re-derivation v2 tab  ·  revision R9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Solution Models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A: Connect360 + WPCO   ·   B: TogetherNow + Databricks base, WPCO the decision plane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analytical plane and a presentation plane — the plane between them is the question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52144"/>
            <a:ext cx="6855860" cy="603504"/>
          </a:xfrm>
          <a:prstGeom prst="roundRect">
            <a:avLst>
              <a:gd name="adj" fmla="val 3030"/>
            </a:avLst>
          </a:prstGeom>
          <a:solidFill>
            <a:srgbClr val="E7EEF6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225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PLANE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218688" y="1225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TogetherNow · MyWayfinder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426464"/>
            <a:ext cx="649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and CBO portal · resource directory · consent capture (“Journey of Trust”) · navigation · HRSN screening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" y="1847088"/>
            <a:ext cx="6855860" cy="2011680"/>
          </a:xfrm>
          <a:prstGeom prst="roundRect">
            <a:avLst>
              <a:gd name="adj" fmla="val 909"/>
            </a:avLst>
          </a:prstGeom>
          <a:solidFill>
            <a:srgbClr val="D6E8DF"/>
          </a:solidFill>
          <a:ln w="20320">
            <a:solidFill>
              <a:srgbClr val="1459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PLANE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218688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WPCO — the gap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121408"/>
            <a:ext cx="64901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disposition → accountable owner → governed action → signed evidence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governed agent runtime with a human-in-the-loop gate, tool allowlists and a fairness interlock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signal dispositioning with a consent gate — who is accountable for this, now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policy-as-data: eligibility, routing and escalation changed without code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 exactly-once operational spine — outbox, idempotency, dead-letter, replay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decision provenance, signed — why this person got this action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terminology conformance, fail-closed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partner has any of it. A lakehouse analyses; a portal presents; this decides and acts.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" y="3950208"/>
            <a:ext cx="6855860" cy="603504"/>
          </a:xfrm>
          <a:prstGeom prst="roundRect">
            <a:avLst>
              <a:gd name="adj" fmla="val 3030"/>
            </a:avLst>
          </a:prstGeom>
          <a:solidFill>
            <a:srgbClr val="EDE7F4"/>
          </a:solidFill>
          <a:ln w="12700">
            <a:solidFill>
              <a:srgbClr val="7A5C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023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PLANE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218688" y="4023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224528"/>
            <a:ext cx="649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Delta Lake longitudinal store · Unity Catalog governance and lineage · entity resolution · analytics and ML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6928" y="4700016"/>
            <a:ext cx="6855860" cy="658368"/>
          </a:xfrm>
          <a:prstGeom prst="roundRect">
            <a:avLst>
              <a:gd name="adj" fmla="val 2778"/>
            </a:avLst>
          </a:prstGeom>
          <a:solidFill>
            <a:srgbClr val="F6E7E2"/>
          </a:solidFill>
          <a:ln w="12700">
            <a:solidFill>
              <a:srgbClr val="B4462E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49808" y="47731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UNPRICED LAYER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937760"/>
            <a:ext cx="649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operational decision would read through a lakehouse. Lakehouse latency is not operational latency — a referral state machine or a crisis pathway cannot run off a batch medallion. An operational store between Delta and the app is required, and nobody has priced one. WPCO already has it.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643945" y="1152144"/>
            <a:ext cx="3980822" cy="274320"/>
          </a:xfrm>
          <a:prstGeom prst="roundRect">
            <a:avLst>
              <a:gd name="adj" fmla="val 6667"/>
            </a:avLst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1961" y="1197864"/>
            <a:ext cx="37247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 KEEPS — code-evidenced, unique in the stack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643945" y="14996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826825" y="14996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 runtime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9454457" y="1499616"/>
            <a:ext cx="2170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agentRuntime real-impl 1,354 + governance 517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7643945" y="17053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826825" y="17053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dispositioning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9454457" y="1705356"/>
            <a:ext cx="2170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 1,775 with a consent gate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7643945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826825" y="19110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Policy-as-data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9454457" y="1911096"/>
            <a:ext cx="2170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26,639 LOC, 117 tests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7643945" y="21168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826825" y="211683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spine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9454457" y="2116836"/>
            <a:ext cx="2170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· idempotency · dead-letter · evidence ledger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7643945" y="2322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7826825" y="23225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provenance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9454457" y="2322576"/>
            <a:ext cx="2170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— not data lineage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7643945" y="25283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826825" y="25283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gate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9454457" y="2528316"/>
            <a:ext cx="2170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3,914 LOC, fail-closed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7643945" y="27340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826825" y="27340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façade + verbs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9454457" y="2734056"/>
            <a:ext cx="2170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Sharing is not a FHIR API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7643945" y="29397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7826825" y="29397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architecture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9454457" y="2939796"/>
            <a:ext cx="2170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seams, 22 fail-closed, 83 findings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643945" y="3236976"/>
            <a:ext cx="3980822" cy="274320"/>
          </a:xfrm>
          <a:prstGeom prst="roundRect">
            <a:avLst>
              <a:gd name="adj" fmla="val 6667"/>
            </a:avLst>
          </a:prstGeom>
          <a:solidFill>
            <a:srgbClr val="B4462E"/>
          </a:solidFill>
          <a:ln w="12700">
            <a:solidFill>
              <a:srgbClr val="B446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1961" y="3282696"/>
            <a:ext cx="37247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WPCO CEDES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7643945" y="3584448"/>
            <a:ext cx="3020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Resource directory · consent capture UI · HRSN screening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10710367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MyWayfinder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7643945" y="3858768"/>
            <a:ext cx="3020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Analytics · data quality · mapping · dedup · batch matching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10710367" y="38587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7643945" y="4133088"/>
            <a:ext cx="3020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longitudinal store itself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10710367" y="4133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7643945" y="4407408"/>
            <a:ext cx="3020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general worker portal — keep CHW, crisis, panel, inbox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10710367" y="4407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MyWayfinder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66928" y="5632704"/>
            <a:ext cx="11057839" cy="640080"/>
          </a:xfrm>
          <a:prstGeom prst="roundRect">
            <a:avLst>
              <a:gd name="adj" fmla="val 2857"/>
            </a:avLst>
          </a:prstGeom>
          <a:solidFill>
            <a:srgbClr val="F5F5F0"/>
          </a:solidFill>
          <a:ln w="11430">
            <a:solidFill>
              <a:srgbClr val="C7CDC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4672" y="5705856"/>
            <a:ext cx="105823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LEFT FOR CONNECT360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804672" y="5888736"/>
            <a:ext cx="10582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 its eight strengths are taken — directory and consent capture by MyWayfinder, identity resolution, governance, analytics and the record store by Databricks, and both certifications by Databricks. Three things neither partner covers: the FHIR API surface that utilisation models #3 and #4 require; PIX / PDQ, which is the protocol a partner queries and is not the same thing as Databricks’ analytical entity resolution; and real-time operational event handling. Connect360 narrows to an identity-protocol and clinical-interop layer — or it has no role, and that gap becomes WPCO’s.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566928" y="63642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0E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asset argument changes from “we build the CIE platform” — which invites “why not just buy Databricks?” — to “we build the governed layer that makes the CIE act, on whatever data platform you already own.” That is platform-agnostic, which neutralises HCA’s existing Snowflake estate rather than defending against it.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566928" y="6675120"/>
            <a:ext cx="110578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 ·  stack B teaming is UNCONFIRMED (A27)  ·  ties to the Solution models A vs B tab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Models, Costed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ceding build effort does not cede integration effort — across four organisations it adds it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figures against the annual ceilings · class-4 · platform licence is the swing factor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−13.55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FTE-MONTHS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119.35 → 105.80 · IBM saves $497,962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7710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485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+12.70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1485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FTE-MONTHS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1485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169.15 → 181.85 · three seams, not one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8728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+$1.19M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503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PAYS MORE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2503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$9.63M → $10.81M over five years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97467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211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$237K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235211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CROSSOVER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235211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licence per year at which B breaks even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57839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188720"/>
                <a:gridCol w="1280160"/>
                <a:gridCol w="1280160"/>
                <a:gridCol w="1417320"/>
                <a:gridCol w="1417320"/>
                <a:gridCol w="1280160"/>
                <a:gridCol w="1182319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ASSET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ASSET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CLIENT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CLIENT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23.85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43.85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$2.23M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$2.51M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+$284K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$3.40M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$2.25M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$2.50M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+$256K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$3.40M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$1.60M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$1.81M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+$215K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$3.50M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2030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$1.88M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$2.10M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+$215K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$3.50M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$1.68M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$1.89M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+$215K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$3.50M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45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119.35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45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5F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169.15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5F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181.85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211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$9.63M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$10.81M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446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+$1.19M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6A6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$17.30M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66928" y="422452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clear every annual ceiling. The difference is the cost score — 300 of 1000 points, scored as (lowest evaluated cost ÷ ours) × 300.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6928" y="4498848"/>
            <a:ext cx="5528920" cy="164592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4572000"/>
            <a:ext cx="516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PLATFORM-LICENCE SENSITIVITY — THE DOMINANT VARIABLE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768096" y="47914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$0/yr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1664208" y="4791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$8.31M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2670048" y="47914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−$1.31M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3813048" y="47914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768096" y="49789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$150K/yr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1664208" y="49789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$9.15M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2670048" y="49789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−$0.48M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3813048" y="49789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768096" y="51663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$237K/yr</a:t>
            </a:r>
            <a:endParaRPr lang="en-US" sz="750" dirty="0"/>
          </a:p>
        </p:txBody>
      </p:sp>
      <p:sp>
        <p:nvSpPr>
          <p:cNvPr id="35" name="Text 32"/>
          <p:cNvSpPr txBox="1"/>
          <p:nvPr/>
        </p:nvSpPr>
        <p:spPr>
          <a:xfrm>
            <a:off x="1664208" y="51663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$9.63M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2670048" y="51663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3813048" y="5166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line nobody has measured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768096" y="53538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$300K/yr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664208" y="53538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$9.98M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2670048" y="53538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+$0.35M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3813048" y="53538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42" name="Text 39"/>
          <p:cNvSpPr txBox="1"/>
          <p:nvPr/>
        </p:nvSpPr>
        <p:spPr>
          <a:xfrm>
            <a:off x="768096" y="55412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$450K/yr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1664208" y="55412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$10.81M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2670048" y="55412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+$1.19M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3813048" y="55412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46" name="Text 43"/>
          <p:cNvSpPr txBox="1"/>
          <p:nvPr/>
        </p:nvSpPr>
        <p:spPr>
          <a:xfrm>
            <a:off x="768096" y="57287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$600K/yr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1664208" y="57287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$11.65M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2670048" y="57287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+$2.02M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3813048" y="57287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768096" y="5934456"/>
            <a:ext cx="512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i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sized the licence (A26), so nobody knows which side of $237,000 this bid sits on. It is the cheapest number in the analysis to establish and the one that decides the model.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6317004" y="4498848"/>
            <a:ext cx="5307763" cy="1645920"/>
          </a:xfrm>
          <a:prstGeom prst="roundRect">
            <a:avLst>
              <a:gd name="adj" fmla="val 1111"/>
            </a:avLst>
          </a:prstGeom>
          <a:solidFill>
            <a:srgbClr val="F5F5F0"/>
          </a:solidFill>
          <a:ln w="11430">
            <a:solidFill>
              <a:srgbClr val="C7CDC9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518172" y="4572000"/>
            <a:ext cx="49054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6518172" y="4773168"/>
            <a:ext cx="49054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 is a poor trade on price.</a:t>
            </a:r>
            <a:endParaRPr lang="en-US" sz="750" dirty="0"/>
          </a:p>
        </p:txBody>
      </p:sp>
      <p:sp>
        <p:nvSpPr>
          <p:cNvPr id="54" name="Text 51"/>
          <p:cNvSpPr txBox="1"/>
          <p:nvPr/>
        </p:nvSpPr>
        <p:spPr>
          <a:xfrm>
            <a:off x="6518172" y="4914900"/>
            <a:ext cx="49054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saves $498K of investment; Washington pays $1.19M more. On a 300-point cost score that is the wrong direction.</a:t>
            </a:r>
            <a:endParaRPr lang="en-US" sz="700" dirty="0"/>
          </a:p>
        </p:txBody>
      </p:sp>
      <p:sp>
        <p:nvSpPr>
          <p:cNvPr id="55" name="Text 52"/>
          <p:cNvSpPr txBox="1"/>
          <p:nvPr/>
        </p:nvSpPr>
        <p:spPr>
          <a:xfrm>
            <a:off x="6518172" y="5102352"/>
            <a:ext cx="49054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 is real but small.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6518172" y="5244084"/>
            <a:ext cx="49054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Ceding the directory, capture UI, analytics and batch matching removes 13.55 asset FTE-months. The decision plane is most of what was left.</a:t>
            </a:r>
            <a:endParaRPr lang="en-US" sz="700" dirty="0"/>
          </a:p>
        </p:txBody>
      </p:sp>
      <p:sp>
        <p:nvSpPr>
          <p:cNvPr id="57" name="Text 54"/>
          <p:cNvSpPr txBox="1"/>
          <p:nvPr/>
        </p:nvSpPr>
        <p:spPr>
          <a:xfrm>
            <a:off x="6518172" y="5431536"/>
            <a:ext cx="49054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eats the saving.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6518172" y="5573268"/>
            <a:ext cx="49054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organisations, three seams, three release cadences: +12.70 client FTE-months, and the November demonstration has no single party able to show the whole flow.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518172" y="5760720"/>
            <a:ext cx="49054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wins on other grounds, if at all.</a:t>
            </a:r>
            <a:endParaRPr lang="en-US" sz="750" dirty="0"/>
          </a:p>
        </p:txBody>
      </p:sp>
      <p:sp>
        <p:nvSpPr>
          <p:cNvPr id="60" name="Text 57"/>
          <p:cNvSpPr txBox="1"/>
          <p:nvPr/>
        </p:nvSpPr>
        <p:spPr>
          <a:xfrm>
            <a:off x="6518172" y="5902452"/>
            <a:ext cx="49054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inherited, platform credibility, co-sell, risk transfer — and platform-agnosticism that neutralises HCA’s Snowflake estate. Those are strategic arguments, not price arguments.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566928" y="6291072"/>
            <a:ext cx="11057839" cy="420624"/>
          </a:xfrm>
          <a:prstGeom prst="roundRect">
            <a:avLst>
              <a:gd name="adj" fmla="val 4348"/>
            </a:avLst>
          </a:prstGeom>
          <a:solidFill>
            <a:srgbClr val="003B6F"/>
          </a:solidFill>
          <a:ln w="12700">
            <a:solidFill>
              <a:srgbClr val="003B6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2960" y="6382512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Ceding scope to partners cuts what IBM invests and raises what Washington pays. Choose stack B for certification, credibility or risk transfer — not to win on cost.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566928" y="6775704"/>
            <a:ext cx="110578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 ·  stack B teaming UNCONFIRMED (A27) · platform licence unsized (A26) · revision R10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Executive Ask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two years → renewal options → decide this quarter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 CIE · proposal due 23 October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97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  </a:t>
            </a:r>
            <a:pPr indent="0" marL="0">
              <a:buNone/>
            </a:pPr>
            <a:r>
              <a:rPr lang="en-US" sz="850" i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Connect360 is live, deployed on Azure and Marketplace-listed, with a real HIE integration in production · WPCO supplies the governed intelligence layer. US-ONLY DELIVERY per RFP Sec. 3.6.4 — the prior 54.3% offshore blend is void for this bid and every figure below is repriced.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182880" cy="18288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4767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1426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TWO-YEAR TERM — CY2027–28   </a:t>
            </a:r>
            <a:pPr indent="0" marL="0">
              <a:buNone/>
            </a:pPr>
            <a:r>
              <a:rPr lang="en-US" sz="11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only years Washington commits 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783080"/>
            <a:ext cx="6583680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19019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Committed term — MVP + Phase 2</a:t>
            </a:r>
            <a:pPr indent="0" marL="0">
              <a:buNone/>
            </a:pPr>
            <a:r>
              <a:rPr lang="en-US" sz="13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         $4.48M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21284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 MVP $2.23M — Washington’s 40.15 deployment FTE-months: configuration, 6–8 partner integrations, directory content, WaTech review, programme and operations. The 31.35 FTE-months that build the product are absorbed by IBM.  CY2028 Phase 2 $2.25M — deployment of shared care plan, granular consent and population analytics; the engines themselves are asset.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999232"/>
            <a:ext cx="182880" cy="18288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0129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9626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RENEWAL OPTIONS — CY2029–31   </a:t>
            </a:r>
            <a:pPr indent="0" marL="0">
              <a:buNone/>
            </a:pPr>
            <a:r>
              <a:rPr lang="en-US" sz="11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Comagine’s sole discretion · no right or expectation of renewal)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310128"/>
            <a:ext cx="3564026" cy="310896"/>
          </a:xfrm>
          <a:prstGeom prst="roundRect">
            <a:avLst>
              <a:gd name="adj" fmla="val 5882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355848"/>
            <a:ext cx="2283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CY2029 · Phase 3 begins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896514" y="3337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$1.60M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621024"/>
            <a:ext cx="3564026" cy="78638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712464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 ingest and exchange, the knowledge graph rebuilt by replaying the MVP event log, journey engine, WPC context ranking behind the existing seam.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13834" y="3310128"/>
            <a:ext cx="3564026" cy="310896"/>
          </a:xfrm>
          <a:prstGeom prst="roundRect">
            <a:avLst>
              <a:gd name="adj" fmla="val 5882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60138" y="3355848"/>
            <a:ext cx="2283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CY2030 · Real-time &amp; inference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43421" y="3337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$1.88M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3834" y="3621024"/>
            <a:ext cx="3564026" cy="78638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0138" y="3712464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dispatch, signal dispositioning engine, graph inference and household linkage, enrollment verification, remaining change subscriptions.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060741" y="3310128"/>
            <a:ext cx="3564026" cy="310896"/>
          </a:xfrm>
          <a:prstGeom prst="roundRect">
            <a:avLst>
              <a:gd name="adj" fmla="val 5882"/>
            </a:avLst>
          </a:prstGeom>
          <a:solidFill>
            <a:srgbClr val="7A5CB0"/>
          </a:solidFill>
          <a:ln w="12700">
            <a:solidFill>
              <a:srgbClr val="7A5CB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07045" y="3355848"/>
            <a:ext cx="2283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CY2031 · Agents &amp; maturation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0327" y="3337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$1.68M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60741" y="3621024"/>
            <a:ext cx="3564026" cy="78638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07045" y="3712464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agents over the MVP domain verbs and actor model, care-plan intelligence, forecasting and equity monitoring, advanced consent interoperability.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6928" y="4553712"/>
            <a:ext cx="11057839" cy="566928"/>
          </a:xfrm>
          <a:prstGeom prst="roundRect">
            <a:avLst>
              <a:gd name="adj" fmla="val 3226"/>
            </a:avLst>
          </a:prstGeom>
          <a:solidFill>
            <a:srgbClr val="3A2E6B"/>
          </a:solidFill>
          <a:ln w="12700">
            <a:solidFill>
              <a:srgbClr val="3A2E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" y="4700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support &amp; recertification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904488" y="4709160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675E8D"/>
          </a:solidFill>
          <a:ln w="9525">
            <a:solidFill>
              <a:srgbClr val="9A8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04488" y="4754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5093208" y="4645152"/>
            <a:ext cx="52513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D6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application support, defect resolution and root-cause analysis; annual HITRUST and SOC 2 recertification and penetration testing; governance participation. Comagine owns tier 1. Runs from MVP go-live to the end of the programme — inside each year, not a separate ask.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0481767" y="4754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26 → end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6928" y="5248656"/>
            <a:ext cx="11057839" cy="420624"/>
          </a:xfrm>
          <a:prstGeom prst="roundRect">
            <a:avLst>
              <a:gd name="adj" fmla="val 4348"/>
            </a:avLst>
          </a:prstGeom>
          <a:solidFill>
            <a:srgbClr val="E3EFE9"/>
          </a:solidFill>
          <a:ln w="9525">
            <a:solidFill>
              <a:srgbClr val="BBD6C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5349240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EVALUATED PRICE  =  $9.63M   </a:t>
            </a:r>
            <a:pPr indent="0" marL="0">
              <a:buNone/>
            </a:pPr>
            <a:r>
              <a:rPr lang="en-US" sz="950" dirty="0">
                <a:solidFill>
                  <a:srgbClr val="16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$17.3M envelope  ·  $7.67M headroom  ·  every year clears its ceiling at a 10% margin  ·  $6.18M below a bid that charges the product build to the state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97296"/>
            <a:ext cx="11057839" cy="786384"/>
          </a:xfrm>
          <a:prstGeom prst="roundRect">
            <a:avLst>
              <a:gd name="adj" fmla="val 23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9536" y="5907024"/>
            <a:ext cx="104726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6B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 THIS QUARTER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59536" y="6163056"/>
            <a:ext cx="10472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$5.56M of base-asset investment across five years — $2.00M of it inside the committed term — carried on the product P&amp;L, not the deal  ·  run the six gate tests, which decide $2,205,000 of CY2027 scope and none costs more than a day  ·  settle the teaming structure on HITRUST and SOC 2, which changes Submittal Form A  ·  submit the two written questions to Comagine by 9 October.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638544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The Executive Ask  ·  ties to the Funding scenarios tab ($9,629,181 base position)  ·  US-only delivery per RFP Sec. 3.6.4  ·  rates are assumptions pending the rate card  ·  estimate class 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 CIE — Delivery Timeline &amp; Executive Ask</dc:title>
  <dc:subject>PptxGenJS Presentation</dc:subject>
  <dc:creator>IBM Consulting</dc:creator>
  <cp:lastModifiedBy>IBM Consulting</cp:lastModifiedBy>
  <cp:revision>1</cp:revision>
  <dcterms:created xsi:type="dcterms:W3CDTF">2026-09-17T22:17:05Z</dcterms:created>
  <dcterms:modified xsi:type="dcterms:W3CDTF">2026-09-17T22:17:05Z</dcterms:modified>
</cp:coreProperties>
</file>