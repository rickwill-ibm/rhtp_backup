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Timeline — Overview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builds and releases the asset · Washington funds its deployment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CY2027–2031 · joint Connect360 + WPCO response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wks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GO-LIVE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June 2027 · 103 MVP requirements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7710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485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6D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61485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RELEASES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61485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wk8 · R2 wk14 · R3 wk20 · GA wk24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8728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42503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CY2027 IS ASSET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42503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31.35 of 71.5 FTE-months — IBM’s investment decision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997467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211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6–8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9235211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IN PRODUCTION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9235211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connect before R2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06040" y="2304288"/>
            <a:ext cx="0" cy="3054096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03120" y="54132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97096" y="2304288"/>
            <a:ext cx="0" cy="3054096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94176" y="54132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2028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788152" y="2304288"/>
            <a:ext cx="0" cy="3054096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85232" y="54132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2029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79208" y="2304288"/>
            <a:ext cx="0" cy="3054096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76288" y="54132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2030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970264" y="2304288"/>
            <a:ext cx="0" cy="3054096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67344" y="54132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2031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561320" y="2304288"/>
            <a:ext cx="0" cy="3054096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58400" y="54132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2031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23957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" kern="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PLATFORM ASSET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259689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Connect360 + WPCO</a:t>
            </a:r>
            <a:endParaRPr lang="en-US" sz="800" dirty="0"/>
          </a:p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IBM-funded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606040" y="2395728"/>
            <a:ext cx="7955280" cy="475488"/>
          </a:xfrm>
          <a:prstGeom prst="roundRect">
            <a:avLst>
              <a:gd name="adj" fmla="val 3846"/>
            </a:avLst>
          </a:prstGeom>
          <a:solidFill>
            <a:srgbClr val="D6E8DF"/>
          </a:solidFill>
          <a:ln w="13970">
            <a:solidFill>
              <a:srgbClr val="14594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715768" y="2505456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hardened and released  —  then it keeps evolving: every engine Washington receives in Phase 2 and Phase 3 is asset capability, not bespoke development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2651486" y="204825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852654" y="2212848"/>
            <a:ext cx="0" cy="182880"/>
          </a:xfrm>
          <a:prstGeom prst="line">
            <a:avLst/>
          </a:prstGeom>
          <a:noFill/>
          <a:ln w="7620">
            <a:solidFill>
              <a:srgbClr val="14594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97790" y="2926080"/>
            <a:ext cx="109728" cy="128016"/>
          </a:xfrm>
          <a:prstGeom prst="diamond">
            <a:avLst/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52654" y="3054096"/>
            <a:ext cx="0" cy="109728"/>
          </a:xfrm>
          <a:prstGeom prst="line">
            <a:avLst/>
          </a:prstGeom>
          <a:noFill/>
          <a:ln w="12700">
            <a:solidFill>
              <a:srgbClr val="14594B"/>
            </a:solidFill>
            <a:prstDash val="dash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2834457" y="219456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035625" y="2359152"/>
            <a:ext cx="0" cy="36576"/>
          </a:xfrm>
          <a:prstGeom prst="line">
            <a:avLst/>
          </a:prstGeom>
          <a:noFill/>
          <a:ln w="7620">
            <a:solidFill>
              <a:srgbClr val="14594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80761" y="2926080"/>
            <a:ext cx="109728" cy="128016"/>
          </a:xfrm>
          <a:prstGeom prst="diamond">
            <a:avLst/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35625" y="3054096"/>
            <a:ext cx="0" cy="109728"/>
          </a:xfrm>
          <a:prstGeom prst="line">
            <a:avLst/>
          </a:prstGeom>
          <a:noFill/>
          <a:ln w="12700">
            <a:solidFill>
              <a:srgbClr val="14594B"/>
            </a:solidFill>
            <a:prstDash val="dash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3017429" y="204825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218597" y="2212848"/>
            <a:ext cx="0" cy="182880"/>
          </a:xfrm>
          <a:prstGeom prst="line">
            <a:avLst/>
          </a:prstGeom>
          <a:noFill/>
          <a:ln w="7620">
            <a:solidFill>
              <a:srgbClr val="14594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63733" y="2926080"/>
            <a:ext cx="109728" cy="128016"/>
          </a:xfrm>
          <a:prstGeom prst="diamond">
            <a:avLst/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18597" y="3054096"/>
            <a:ext cx="0" cy="109728"/>
          </a:xfrm>
          <a:prstGeom prst="line">
            <a:avLst/>
          </a:prstGeom>
          <a:noFill/>
          <a:ln w="12700">
            <a:solidFill>
              <a:srgbClr val="14594B"/>
            </a:solidFill>
            <a:prstDash val="dash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3136758" y="219456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337926" y="2359152"/>
            <a:ext cx="0" cy="36576"/>
          </a:xfrm>
          <a:prstGeom prst="line">
            <a:avLst/>
          </a:prstGeom>
          <a:noFill/>
          <a:ln w="7620">
            <a:solidFill>
              <a:srgbClr val="14594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83062" y="2926080"/>
            <a:ext cx="109728" cy="128016"/>
          </a:xfrm>
          <a:prstGeom prst="diamond">
            <a:avLst/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37926" y="3054096"/>
            <a:ext cx="0" cy="109728"/>
          </a:xfrm>
          <a:prstGeom prst="line">
            <a:avLst/>
          </a:prstGeom>
          <a:noFill/>
          <a:ln w="12700">
            <a:solidFill>
              <a:srgbClr val="14594B"/>
            </a:solidFill>
            <a:prstDash val="dash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3520897" y="29260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wk8 · R2 wk14 · R3 wk20 · GA wk24   released to delivery ↓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566928" y="298094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FUNDS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594360" y="3291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CY2027</a:t>
            </a:r>
            <a:endParaRPr lang="en-US" sz="9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606040" y="3200400"/>
            <a:ext cx="1591056" cy="512064"/>
          </a:xfrm>
          <a:prstGeom prst="roundRect">
            <a:avLst>
              <a:gd name="adj" fmla="val 3571"/>
            </a:avLst>
          </a:prstGeom>
          <a:solidFill>
            <a:srgbClr val="E4EFEA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715768" y="3291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· configuration · 6–8 partner integrations · WaTech SDR · contract overhead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4288536" y="330098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$2.23M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2185416" y="389534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CY2028</a:t>
            </a:r>
            <a:endParaRPr lang="en-US" sz="9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197096" y="3803904"/>
            <a:ext cx="1591056" cy="512064"/>
          </a:xfrm>
          <a:prstGeom prst="roundRect">
            <a:avLst>
              <a:gd name="adj" fmla="val 3571"/>
            </a:avLst>
          </a:prstGeom>
          <a:solidFill>
            <a:srgbClr val="E7EEF6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306824" y="38953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GATE 1 — shared care plan · granular consent · population &amp; equity analytics</a:t>
            </a:r>
            <a:endParaRPr lang="en-US" sz="850" dirty="0"/>
          </a:p>
        </p:txBody>
      </p:sp>
      <p:sp>
        <p:nvSpPr>
          <p:cNvPr id="63" name="Text 61"/>
          <p:cNvSpPr txBox="1"/>
          <p:nvPr/>
        </p:nvSpPr>
        <p:spPr>
          <a:xfrm>
            <a:off x="5879592" y="390448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$2.25M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3776472" y="4498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CY2029–31</a:t>
            </a:r>
            <a:endParaRPr lang="en-US" sz="9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788152" y="4407408"/>
            <a:ext cx="4773168" cy="512064"/>
          </a:xfrm>
          <a:prstGeom prst="roundRect">
            <a:avLst>
              <a:gd name="adj" fmla="val 3571"/>
            </a:avLst>
          </a:prstGeom>
          <a:solidFill>
            <a:srgbClr val="E7DCC2"/>
          </a:solidFill>
          <a:ln w="12700">
            <a:solidFill>
              <a:srgbClr val="A9741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897880" y="4498848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GATE 2 — event notification · knowledge graph · journey engine · WPC ranking · real-time dispatch · governed agents</a:t>
            </a:r>
            <a:endParaRPr 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10652760" y="4507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$9.11M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2185416" y="51023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</a:t>
            </a:r>
            <a:endParaRPr lang="en-US" sz="9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recertification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197096" y="5010912"/>
            <a:ext cx="6364224" cy="512064"/>
          </a:xfrm>
          <a:prstGeom prst="roundRect">
            <a:avLst>
              <a:gd name="adj" fmla="val 3571"/>
            </a:avLst>
          </a:prstGeom>
          <a:solidFill>
            <a:srgbClr val="ECEDE8"/>
          </a:solidFill>
          <a:ln w="12700">
            <a:solidFill>
              <a:srgbClr val="5A6A62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306824" y="5102352"/>
            <a:ext cx="6144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tier-2/3 support · annual recertification · governance — continuous from go-live</a:t>
            </a:r>
            <a:endParaRPr lang="en-US" sz="850" dirty="0"/>
          </a:p>
        </p:txBody>
      </p:sp>
      <p:sp>
        <p:nvSpPr>
          <p:cNvPr id="71" name="Text 69"/>
          <p:cNvSpPr txBox="1"/>
          <p:nvPr/>
        </p:nvSpPr>
        <p:spPr>
          <a:xfrm>
            <a:off x="5947258" y="55778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44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FIT ANY FUNDING ROUTE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947258" y="5779008"/>
            <a:ext cx="3977640" cy="475488"/>
          </a:xfrm>
          <a:prstGeom prst="roundRect">
            <a:avLst>
              <a:gd name="adj" fmla="val 3846"/>
            </a:avLst>
          </a:prstGeom>
          <a:solidFill>
            <a:srgbClr val="F6E7E2"/>
          </a:solidFill>
          <a:ln w="12700">
            <a:solidFill>
              <a:srgbClr val="B4462E"/>
            </a:solidFill>
            <a:prstDash val="dash"/>
          </a:ln>
        </p:spPr>
      </p:sp>
      <p:sp>
        <p:nvSpPr>
          <p:cNvPr id="73" name="Text 71"/>
          <p:cNvSpPr txBox="1"/>
          <p:nvPr/>
        </p:nvSpPr>
        <p:spPr>
          <a:xfrm>
            <a:off x="6056986" y="588873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44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Client-facing portal · agentic marketplace · household thread · agent ROI — needs a second deal</a:t>
            </a:r>
            <a:endParaRPr 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10016338" y="58704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$1.87M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566928" y="559612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shown are scenario S1 — IBM funds asset development in the two committed years, Washington funds its own deployment throughout. Five-year Washington price $13.59M against a $17.3M envelope. IBM investment $2.00M. Every year clears its ceiling. Scenarios S2 and S3 are on the funding slide.</a:t>
            </a:r>
            <a:endParaRPr lang="en-US" sz="850" dirty="0"/>
          </a:p>
        </p:txBody>
      </p:sp>
      <p:sp>
        <p:nvSpPr>
          <p:cNvPr id="76" name="Text 74"/>
          <p:cNvSpPr txBox="1"/>
          <p:nvPr/>
        </p:nvSpPr>
        <p:spPr>
          <a:xfrm>
            <a:off x="566928" y="65836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 follows — 06a: release and handover ladder  ·  06b: CY2027 MVP roadmap  ·  06c: what Washington funds and what IBM funds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Release → Client Handover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asset story told inside the delivery story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work cannot start on a stream until its asset release exists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207008"/>
            <a:ext cx="2094525" cy="402336"/>
          </a:xfrm>
          <a:prstGeom prst="roundRect">
            <a:avLst>
              <a:gd name="adj" fmla="val 4545"/>
            </a:avLst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2801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47053" y="13075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82496"/>
            <a:ext cx="2094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path complete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029968"/>
            <a:ext cx="2094525" cy="1481328"/>
          </a:xfrm>
          <a:prstGeom prst="roundRect">
            <a:avLst>
              <a:gd name="adj" fmla="val 1235"/>
            </a:avLst>
          </a:prstGeom>
          <a:solidFill>
            <a:srgbClr val="E4EFEA"/>
          </a:solidFill>
          <a:ln w="11430">
            <a:solidFill>
              <a:srgbClr val="1459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21408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RELEASE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322576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with non-destructive merge · full R4 consent provision model · provenance and cross-org audit · RBAC · durable event log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273552"/>
            <a:ext cx="18019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asset  13.05  FTE-mo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614190" y="3566160"/>
            <a:ext cx="0" cy="274320"/>
          </a:xfrm>
          <a:prstGeom prst="line">
            <a:avLst/>
          </a:prstGeom>
          <a:noFill/>
          <a:ln w="17780">
            <a:solidFill>
              <a:srgbClr val="14594B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66928" y="3602736"/>
            <a:ext cx="9741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to delivery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66928" y="3913632"/>
            <a:ext cx="2094525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005072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CLIENT DELIVERY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206240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consent policy authoring · organisation hierarchy · identifier policy · retention and legal-hold rules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807757" y="1207008"/>
            <a:ext cx="2094525" cy="402336"/>
          </a:xfrm>
          <a:prstGeom prst="roundRect">
            <a:avLst>
              <a:gd name="adj" fmla="val 4545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35773" y="12801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987881" y="13075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14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2807757" y="1682496"/>
            <a:ext cx="2094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surfaces frozen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07757" y="2029968"/>
            <a:ext cx="2094525" cy="1481328"/>
          </a:xfrm>
          <a:prstGeom prst="roundRect">
            <a:avLst>
              <a:gd name="adj" fmla="val 1235"/>
            </a:avLst>
          </a:prstGeom>
          <a:solidFill>
            <a:srgbClr val="DCE9DC"/>
          </a:solidFill>
          <a:ln w="1143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54061" y="2121408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RELEASE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954061" y="2322576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Owned, versioned integration façade (US Core + SDOHCC) · domain-verb mutations and the statewide reason-code vocabulary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2954061" y="3273552"/>
            <a:ext cx="18019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asset  17.55  FTE-mo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855019" y="3566160"/>
            <a:ext cx="0" cy="274320"/>
          </a:xfrm>
          <a:prstGeom prst="line">
            <a:avLst/>
          </a:prstGeom>
          <a:noFill/>
          <a:ln w="17780">
            <a:solidFill>
              <a:srgbClr val="2F7D4F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2807757" y="3602736"/>
            <a:ext cx="9741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to delivery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2807757" y="3913632"/>
            <a:ext cx="2094525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954061" y="4005072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CLIENT DELIVERY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954061" y="4206240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onboarding may begin. Nothing connects before this — and once it has, the surface cannot change.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48585" y="1207008"/>
            <a:ext cx="2094525" cy="402336"/>
          </a:xfrm>
          <a:prstGeom prst="roundRect">
            <a:avLst>
              <a:gd name="adj" fmla="val 4545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76601" y="12801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228710" y="13075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20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048585" y="1682496"/>
            <a:ext cx="2094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product complete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48585" y="2029968"/>
            <a:ext cx="2094525" cy="1481328"/>
          </a:xfrm>
          <a:prstGeom prst="roundRect">
            <a:avLst>
              <a:gd name="adj" fmla="val 1235"/>
            </a:avLst>
          </a:prstGeom>
          <a:solidFill>
            <a:srgbClr val="E7EEF6"/>
          </a:solidFill>
          <a:ln w="11430">
            <a:solidFill>
              <a:srgbClr val="2C5F8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194889" y="2121408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RELEASE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5194889" y="2322576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portal · read-side reporting projection · citizenEverything resolver · directory federation adapter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5194889" y="3273552"/>
            <a:ext cx="18019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asset  33.05  FTE-mo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095848" y="3566160"/>
            <a:ext cx="0" cy="274320"/>
          </a:xfrm>
          <a:prstGeom prst="line">
            <a:avLst/>
          </a:prstGeom>
          <a:noFill/>
          <a:ln w="17780">
            <a:solidFill>
              <a:srgbClr val="2C5F8A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5048585" y="3602736"/>
            <a:ext cx="9741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to delivery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048585" y="3913632"/>
            <a:ext cx="2094525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194889" y="4005072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CLIENT DELIVERY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5194889" y="4206240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configuration completion · directory corpus load · referral pathway setup · user acceptance testing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289414" y="1207008"/>
            <a:ext cx="2094525" cy="402336"/>
          </a:xfrm>
          <a:prstGeom prst="roundRect">
            <a:avLst>
              <a:gd name="adj" fmla="val 4545"/>
            </a:avLst>
          </a:prstGeom>
          <a:solidFill>
            <a:srgbClr val="A9741A"/>
          </a:solidFill>
          <a:ln w="12700">
            <a:solidFill>
              <a:srgbClr val="A9741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17430" y="12801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469539" y="13075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24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289414" y="1682496"/>
            <a:ext cx="2094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 build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289414" y="2029968"/>
            <a:ext cx="2094525" cy="1481328"/>
          </a:xfrm>
          <a:prstGeom prst="roundRect">
            <a:avLst>
              <a:gd name="adj" fmla="val 1235"/>
            </a:avLst>
          </a:prstGeom>
          <a:solidFill>
            <a:srgbClr val="E7DCC2"/>
          </a:solidFill>
          <a:ln w="11430">
            <a:solidFill>
              <a:srgbClr val="A9741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435718" y="2121408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RELEASE</a:t>
            </a:r>
            <a:endParaRPr lang="en-US" sz="700" dirty="0"/>
          </a:p>
        </p:txBody>
      </p:sp>
      <p:sp>
        <p:nvSpPr>
          <p:cNvPr id="51" name="Text 49"/>
          <p:cNvSpPr txBox="1"/>
          <p:nvPr/>
        </p:nvSpPr>
        <p:spPr>
          <a:xfrm>
            <a:off x="7435718" y="2322576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HITRUST r2 and SOC 2 Type II evidence · penetration test · accessibility conformance and published VPAT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7435718" y="3273552"/>
            <a:ext cx="18019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asset  37.75  FTE-mo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8336676" y="3566160"/>
            <a:ext cx="0" cy="274320"/>
          </a:xfrm>
          <a:prstGeom prst="line">
            <a:avLst/>
          </a:prstGeom>
          <a:noFill/>
          <a:ln w="17780">
            <a:solidFill>
              <a:srgbClr val="A9741A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7289414" y="3602736"/>
            <a:ext cx="9741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to delivery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7289414" y="3913632"/>
            <a:ext cx="2094525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435718" y="4005072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CLIENT DELIVERY</a:t>
            </a:r>
            <a:endParaRPr lang="en-US" sz="700" dirty="0"/>
          </a:p>
        </p:txBody>
      </p:sp>
      <p:sp>
        <p:nvSpPr>
          <p:cNvPr id="57" name="Text 55"/>
          <p:cNvSpPr txBox="1"/>
          <p:nvPr/>
        </p:nvSpPr>
        <p:spPr>
          <a:xfrm>
            <a:off x="7435718" y="4206240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WaTech Security Design Review and Privacy Threshold Analysis submitted — gates every byte of HCA data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9530243" y="1207008"/>
            <a:ext cx="2094525" cy="402336"/>
          </a:xfrm>
          <a:prstGeom prst="roundRect">
            <a:avLst>
              <a:gd name="adj" fmla="val 4545"/>
            </a:avLst>
          </a:prstGeom>
          <a:solidFill>
            <a:srgbClr val="003B6F"/>
          </a:solidFill>
          <a:ln w="12700">
            <a:solidFill>
              <a:srgbClr val="003B6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658259" y="12801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10710367" y="13075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26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9530243" y="1682496"/>
            <a:ext cx="2094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GO-LIVE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530243" y="2029968"/>
            <a:ext cx="2094525" cy="1481328"/>
          </a:xfrm>
          <a:prstGeom prst="roundRect">
            <a:avLst>
              <a:gd name="adj" fmla="val 1235"/>
            </a:avLst>
          </a:prstGeom>
          <a:solidFill>
            <a:srgbClr val="E3E9F2"/>
          </a:solidFill>
          <a:ln w="11430">
            <a:solidFill>
              <a:srgbClr val="003B6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676547" y="2121408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00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RELEASE</a:t>
            </a:r>
            <a:endParaRPr lang="en-US" sz="700" dirty="0"/>
          </a:p>
        </p:txBody>
      </p:sp>
      <p:sp>
        <p:nvSpPr>
          <p:cNvPr id="64" name="Text 62"/>
          <p:cNvSpPr txBox="1"/>
          <p:nvPr/>
        </p:nvSpPr>
        <p:spPr>
          <a:xfrm>
            <a:off x="9676547" y="2322576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9676547" y="3273552"/>
            <a:ext cx="18019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asset  —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10577505" y="3566160"/>
            <a:ext cx="0" cy="274320"/>
          </a:xfrm>
          <a:prstGeom prst="line">
            <a:avLst/>
          </a:prstGeom>
          <a:noFill/>
          <a:ln w="17780">
            <a:solidFill>
              <a:srgbClr val="003B6F"/>
            </a:solidFill>
            <a:prstDash val="solid"/>
            <a:tailEnd type="triangle"/>
          </a:ln>
        </p:spPr>
      </p:sp>
      <p:sp>
        <p:nvSpPr>
          <p:cNvPr id="67" name="Text 65"/>
          <p:cNvSpPr txBox="1"/>
          <p:nvPr/>
        </p:nvSpPr>
        <p:spPr>
          <a:xfrm>
            <a:off x="9530243" y="3602736"/>
            <a:ext cx="9741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to delivery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9530243" y="3913632"/>
            <a:ext cx="2094525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E2E4D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676547" y="4005072"/>
            <a:ext cx="1801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CLIENT DELIVERY</a:t>
            </a:r>
            <a:endParaRPr lang="en-US" sz="700" dirty="0"/>
          </a:p>
        </p:txBody>
      </p:sp>
      <p:sp>
        <p:nvSpPr>
          <p:cNvPr id="70" name="Text 68"/>
          <p:cNvSpPr txBox="1"/>
          <p:nvPr/>
        </p:nvSpPr>
        <p:spPr>
          <a:xfrm>
            <a:off x="9676547" y="4206240"/>
            <a:ext cx="18019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cutover · 6–8 partners live · tier-2/3 support begins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66928" y="5431536"/>
            <a:ext cx="11057839" cy="1060704"/>
          </a:xfrm>
          <a:prstGeom prst="roundRect">
            <a:avLst>
              <a:gd name="adj" fmla="val 1724"/>
            </a:avLst>
          </a:prstGeom>
          <a:solidFill>
            <a:srgbClr val="F5F5F0"/>
          </a:solidFill>
          <a:ln w="11430">
            <a:solidFill>
              <a:srgbClr val="C7CDC9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22960" y="5522976"/>
            <a:ext cx="105457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WEEK NUMBERS ARE WHAT THEY ARE</a:t>
            </a:r>
            <a:endParaRPr lang="en-US" sz="850" dirty="0"/>
          </a:p>
        </p:txBody>
      </p:sp>
      <p:sp>
        <p:nvSpPr>
          <p:cNvPr id="73" name="Text 71"/>
          <p:cNvSpPr txBox="1"/>
          <p:nvPr/>
        </p:nvSpPr>
        <p:spPr>
          <a:xfrm>
            <a:off x="822960" y="5724144"/>
            <a:ext cx="105457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at week 14 is the binding release. The moment 6–8 independent organisations hold production integrations against the façade and the verb set, neither can change — so onboarding cannot start before week 14 and must finish by week 26. GA at week 24 is the certification release: the Security Design Review cannot be submitted against a build that is still moving, and two weeks of float to go-live is thin. Peak concurrency is about thirteen people in weeks 6–13; roughly $1.4M of CY2027 is out the door by week 14, against acceptance milestones worth far less.</a:t>
            </a:r>
            <a:endParaRPr 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566928" y="660196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Consulting · Health &amp; Human Services  ·  WA CIE  ·  release ladder ties to the Release handover tab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CY2027 MVP Roadmap (wk 1–34)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Sequenced by irreversibility, not by value · contract start 4 Jan 2027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Tiers 1 and 2 complete before any partner integrates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88920" y="1115568"/>
            <a:ext cx="0" cy="36393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83084" y="1115568"/>
            <a:ext cx="0" cy="36393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80164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120938" y="1115568"/>
            <a:ext cx="0" cy="36393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18018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wk14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658793" y="1115568"/>
            <a:ext cx="0" cy="36393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55873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wk20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96647" y="1115568"/>
            <a:ext cx="0" cy="36393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93727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wk26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247120" y="1115568"/>
            <a:ext cx="0" cy="36393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744200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wk34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11887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write path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88920" y="1170432"/>
            <a:ext cx="3332018" cy="274320"/>
          </a:xfrm>
          <a:prstGeom prst="roundRect">
            <a:avLst>
              <a:gd name="adj" fmla="val 6667"/>
            </a:avLst>
          </a:prstGeom>
          <a:solidFill>
            <a:srgbClr val="E4EFEA"/>
          </a:solidFill>
          <a:ln w="11430">
            <a:solidFill>
              <a:srgbClr val="14594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71216" y="1197864"/>
            <a:ext cx="3167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consent · provenance &amp; audit · RBAC · event log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6166658" y="11978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1536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contract surfaces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557847" y="1517904"/>
            <a:ext cx="2563091" cy="274320"/>
          </a:xfrm>
          <a:prstGeom prst="roundRect">
            <a:avLst>
              <a:gd name="adj" fmla="val 6667"/>
            </a:avLst>
          </a:prstGeom>
          <a:solidFill>
            <a:srgbClr val="DCE9DC"/>
          </a:solidFill>
          <a:ln w="1143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40143" y="1545336"/>
            <a:ext cx="2398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façade · domain verbs + reason codes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6166658" y="15453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18836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MVP product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070465" y="1865376"/>
            <a:ext cx="5126182" cy="274320"/>
          </a:xfrm>
          <a:prstGeom prst="roundRect">
            <a:avLst>
              <a:gd name="adj" fmla="val 6667"/>
            </a:avLst>
          </a:prstGeom>
          <a:solidFill>
            <a:srgbClr val="E7EEF6"/>
          </a:solidFill>
          <a:ln w="11430">
            <a:solidFill>
              <a:srgbClr val="2C5F8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52761" y="1892808"/>
            <a:ext cx="49615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portal · read-side projection · conform &amp; write · citizenEverything · directory adapter · referral · HRSN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9242367" y="18928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24.5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22311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· compliance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070465" y="2212848"/>
            <a:ext cx="4869873" cy="274320"/>
          </a:xfrm>
          <a:prstGeom prst="roundRect">
            <a:avLst>
              <a:gd name="adj" fmla="val 6667"/>
            </a:avLst>
          </a:prstGeom>
          <a:solidFill>
            <a:srgbClr val="EDE7F4"/>
          </a:solidFill>
          <a:ln w="11430">
            <a:solidFill>
              <a:srgbClr val="7A5CB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52761" y="2240280"/>
            <a:ext cx="47052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508 / WCAG 2.1 AA + VPAT · Tribal &amp; IHS data sovereignty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8986058" y="22402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5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25786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lane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88920" y="2560320"/>
            <a:ext cx="5895109" cy="274320"/>
          </a:xfrm>
          <a:prstGeom prst="roundRect">
            <a:avLst>
              <a:gd name="adj" fmla="val 6667"/>
            </a:avLst>
          </a:prstGeom>
          <a:solidFill>
            <a:srgbClr val="E7DCC2"/>
          </a:solidFill>
          <a:ln w="11430">
            <a:solidFill>
              <a:srgbClr val="A9741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871216" y="2587752"/>
            <a:ext cx="57305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HITRUST / SOC 2 evidence · penetration test · WaTech SDR + Privacy Threshold Analysis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8729749" y="25877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29260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onboarding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20938" y="2907792"/>
            <a:ext cx="3075709" cy="274320"/>
          </a:xfrm>
          <a:prstGeom prst="roundRect">
            <a:avLst>
              <a:gd name="adj" fmla="val 6667"/>
            </a:avLst>
          </a:prstGeom>
          <a:solidFill>
            <a:srgbClr val="E3E9F2"/>
          </a:solidFill>
          <a:ln w="11430">
            <a:solidFill>
              <a:srgbClr val="003B6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03234" y="2935224"/>
            <a:ext cx="29111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interoperability partners — a factory, not eight bespoke projects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9242367" y="29352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32735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management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88920" y="3255264"/>
            <a:ext cx="8458200" cy="274320"/>
          </a:xfrm>
          <a:prstGeom prst="roundRect">
            <a:avLst>
              <a:gd name="adj" fmla="val 6667"/>
            </a:avLst>
          </a:prstGeom>
          <a:solidFill>
            <a:srgbClr val="ECEDE8"/>
          </a:solidFill>
          <a:ln w="11430">
            <a:solidFill>
              <a:srgbClr val="5A6A6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871216" y="3282696"/>
            <a:ext cx="8293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deliverables · bi-weekly plan · monthly reports · RAID · governance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11292840" y="32826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566928" y="36210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· tier 2/3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196647" y="3602736"/>
            <a:ext cx="2050473" cy="274320"/>
          </a:xfrm>
          <a:prstGeom prst="roundRect">
            <a:avLst>
              <a:gd name="adj" fmla="val 6667"/>
            </a:avLst>
          </a:prstGeom>
          <a:solidFill>
            <a:srgbClr val="ECEDE8"/>
          </a:solidFill>
          <a:ln w="11430">
            <a:solidFill>
              <a:srgbClr val="5A6A6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78943" y="3630168"/>
            <a:ext cx="18858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Comagine owns tier 1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11292840" y="36301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566928" y="39684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4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88920" y="3950208"/>
            <a:ext cx="8458200" cy="274320"/>
          </a:xfrm>
          <a:prstGeom prst="roundRect">
            <a:avLst>
              <a:gd name="adj" fmla="val 6667"/>
            </a:avLst>
          </a:prstGeom>
          <a:solidFill>
            <a:srgbClr val="F6E7E2"/>
          </a:solidFill>
          <a:ln w="11430">
            <a:solidFill>
              <a:srgbClr val="B4462E"/>
            </a:solidFill>
            <a:prstDash val="dash"/>
          </a:ln>
        </p:spPr>
      </p:sp>
      <p:sp>
        <p:nvSpPr>
          <p:cNvPr id="52" name="Text 50"/>
          <p:cNvSpPr txBox="1"/>
          <p:nvPr/>
        </p:nvSpPr>
        <p:spPr>
          <a:xfrm>
            <a:off x="2871216" y="3977640"/>
            <a:ext cx="8293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B44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/ X12 / NCPDP spine · HCC/CDPS &amp; DRG groupers · HEDIS · total cost of care · CMS-0057-F · prior authorisation · Epic/Cerner SMART · ADF/Databricks · asset packaging  —  no WA CIE buyer at any phase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566928" y="44439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88920" y="4398264"/>
            <a:ext cx="8458200" cy="329184"/>
          </a:xfrm>
          <a:prstGeom prst="roundRect">
            <a:avLst>
              <a:gd name="adj" fmla="val 5556"/>
            </a:avLst>
          </a:prstGeom>
          <a:solidFill>
            <a:srgbClr val="E7DCC2"/>
          </a:solidFill>
          <a:ln w="12700">
            <a:solidFill>
              <a:srgbClr val="E7DCC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47786" y="4480560"/>
            <a:ext cx="146304" cy="164592"/>
          </a:xfrm>
          <a:prstGeom prst="diamond">
            <a:avLst/>
          </a:prstGeom>
          <a:solidFill>
            <a:srgbClr val="2F6DB4"/>
          </a:solidFill>
          <a:ln w="12700">
            <a:solidFill>
              <a:srgbClr val="2F6DB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389418" y="4178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F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frozen wk14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8610877" y="4480560"/>
            <a:ext cx="146304" cy="164592"/>
          </a:xfrm>
          <a:prstGeom prst="diamond">
            <a:avLst/>
          </a:prstGeom>
          <a:solidFill>
            <a:srgbClr val="A9741A"/>
          </a:solidFill>
          <a:ln w="12700">
            <a:solidFill>
              <a:srgbClr val="A9741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358149" y="4178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passed wk24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9123495" y="4480560"/>
            <a:ext cx="146304" cy="164592"/>
          </a:xfrm>
          <a:prstGeom prst="diamond">
            <a:avLst/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251511" y="4178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GO-LIVE wk26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1173968" y="4480560"/>
            <a:ext cx="146304" cy="164592"/>
          </a:xfrm>
          <a:prstGeom prst="diamond">
            <a:avLst/>
          </a:prstGeom>
          <a:solidFill>
            <a:srgbClr val="5A6A62"/>
          </a:solidFill>
          <a:ln w="12700">
            <a:solidFill>
              <a:srgbClr val="5A6A6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921240" y="4178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impl. ends wk34</a:t>
            </a:r>
            <a:endParaRPr lang="en-US" sz="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736592"/>
          <a:ext cx="11057839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548640"/>
                <a:gridCol w="621792"/>
                <a:gridCol w="775411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FTE-mo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LANDS, AND WHEN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45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irreversible write path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Stable CIE identifier, permanent source-ID retention, non-destructive merge/unmerge with link history and a stewardship queue.  ◆ Full R4 consent provision shape, enforcement at the data layer, revoke-not-delete, securityLabel from the first record.  ◆ Provenance per write and cross-org read audit.  ◆ Durable event log — stable types, idempotency, ordering.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contract surfaces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Owned, versioned integration façade profiled to US Core + SDOHCC.  ◆ Domain-verb mutations with the statewide reason-code vocabulary.  — Both land BEFORE the first partner integrates; once 6–8 organisations hold production integrations the surface cannot be taken away.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· MVP product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6–26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Participant portal extended to worker roles — match adjudication, record view, consent capture, HRSN screening, referral create/receive/track/close, directory search, org admin.  ◆ Read-side projection with operational counts and a participant extract.  ◆ citizenEverything resolver.  ◆ Directory federation adapter.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A5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4 + certification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508 / WCAG 2.1 AA, VPAT / ACR and remediation.  ◆ Tribal and IHS data sovereignty — 29 federally recognised tribes.  ◆ HITRUST r2 and SOC 2 evidence, penetration test, WaTech SDR and Privacy Threshold Analysis — a pre-condition of launch with an immediate-termination trigger.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3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· PM · operations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6–8 partners in production at go-live, run as a repeatable factory with a per-partner acceptance milestone.  ◆ 23 deliverables, bi-weekly plan updates, monthly reports, RAID.  ◆ Tier-2/3 support from go-live; Comagine owns tier 1.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4" name="Text 61"/>
          <p:cNvSpPr txBox="1"/>
          <p:nvPr/>
        </p:nvSpPr>
        <p:spPr>
          <a:xfrm>
            <a:off x="566928" y="6620256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Consulting · Health &amp; Human Services  ·  WA CIE CY2027 MVP  ·  71.5 FTE-months · $3,157,625 delivered cost · ties to the Gantt and Staffing tabs  ·  US-only delivery per RFP Sec. 3.6.4  ·  illustrative rates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06c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Washington Funds · What IBM Funds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split is a commercial dial, not a fact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is set decides the bid price, the investment and the exposure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CY2027 — WHERE EVERY FTE-MONTH SITS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389888"/>
            <a:ext cx="5669280" cy="237744"/>
          </a:xfrm>
          <a:prstGeom prst="rect">
            <a:avLst/>
          </a:prstGeom>
          <a:solidFill>
            <a:srgbClr val="003B6F"/>
          </a:solidFill>
          <a:ln w="12700">
            <a:solidFill>
              <a:srgbClr val="003B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" y="14173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4315968" y="14173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276088" y="14173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66928" y="1627632"/>
            <a:ext cx="5669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627632"/>
            <a:ext cx="914400" cy="256032"/>
          </a:xfrm>
          <a:prstGeom prst="rect">
            <a:avLst/>
          </a:prstGeom>
          <a:solidFill>
            <a:srgbClr val="E4EFEA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30368" y="1627632"/>
            <a:ext cx="914400" cy="256032"/>
          </a:xfrm>
          <a:prstGeom prst="rect">
            <a:avLst/>
          </a:prstGeom>
          <a:solidFill>
            <a:srgbClr val="E7EEF6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" y="16733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consent · provenance · RBAC · event log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16733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6.65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16733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2.85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6928" y="1883664"/>
            <a:ext cx="5669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70248" y="1883664"/>
            <a:ext cx="914400" cy="256032"/>
          </a:xfrm>
          <a:prstGeom prst="rect">
            <a:avLst/>
          </a:prstGeom>
          <a:solidFill>
            <a:srgbClr val="E4EFEA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0368" y="1883664"/>
            <a:ext cx="914400" cy="256032"/>
          </a:xfrm>
          <a:prstGeom prst="rect">
            <a:avLst/>
          </a:prstGeom>
          <a:solidFill>
            <a:srgbClr val="E7EEF6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" y="19293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façade · domain verbs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4315968" y="19293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5276088" y="19293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66928" y="2139696"/>
            <a:ext cx="5669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70248" y="2139696"/>
            <a:ext cx="914400" cy="256032"/>
          </a:xfrm>
          <a:prstGeom prst="rect">
            <a:avLst/>
          </a:prstGeom>
          <a:solidFill>
            <a:srgbClr val="E4EFEA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30368" y="2139696"/>
            <a:ext cx="914400" cy="256032"/>
          </a:xfrm>
          <a:prstGeom prst="rect">
            <a:avLst/>
          </a:prstGeom>
          <a:solidFill>
            <a:srgbClr val="E7EEF6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" y="21854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portal · projection · resolver · directory adapter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4315968" y="21854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15.50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21854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9.00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66928" y="2395728"/>
            <a:ext cx="5669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70248" y="2395728"/>
            <a:ext cx="914400" cy="256032"/>
          </a:xfrm>
          <a:prstGeom prst="rect">
            <a:avLst/>
          </a:prstGeom>
          <a:solidFill>
            <a:srgbClr val="E4EFEA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30368" y="2395728"/>
            <a:ext cx="914400" cy="256032"/>
          </a:xfrm>
          <a:prstGeom prst="rect">
            <a:avLst/>
          </a:prstGeom>
          <a:solidFill>
            <a:srgbClr val="E7EEF6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" y="24414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· Tribal sovereignty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4315968" y="2441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2.70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5276088" y="2441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1.80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66928" y="2651760"/>
            <a:ext cx="5669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70248" y="2651760"/>
            <a:ext cx="914400" cy="256032"/>
          </a:xfrm>
          <a:prstGeom prst="rect">
            <a:avLst/>
          </a:prstGeom>
          <a:solidFill>
            <a:srgbClr val="E4EFEA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30368" y="2651760"/>
            <a:ext cx="914400" cy="256032"/>
          </a:xfrm>
          <a:prstGeom prst="rect">
            <a:avLst/>
          </a:prstGeom>
          <a:solidFill>
            <a:srgbClr val="E7EEF6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6656" y="26974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HITRUST / SOC 2  ·  WaTech SDR + PTA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4315968" y="26974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5276088" y="26974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66928" y="2907792"/>
            <a:ext cx="5669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70248" y="2907792"/>
            <a:ext cx="914400" cy="256032"/>
          </a:xfrm>
          <a:prstGeom prst="rect">
            <a:avLst/>
          </a:prstGeom>
          <a:solidFill>
            <a:srgbClr val="E4EFEA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30368" y="2907792"/>
            <a:ext cx="914400" cy="256032"/>
          </a:xfrm>
          <a:prstGeom prst="rect">
            <a:avLst/>
          </a:prstGeom>
          <a:solidFill>
            <a:srgbClr val="E7EEF6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76656" y="29535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onboarding (6–8)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4315968" y="2953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5276088" y="2953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66928" y="3163824"/>
            <a:ext cx="5669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70248" y="3163824"/>
            <a:ext cx="914400" cy="256032"/>
          </a:xfrm>
          <a:prstGeom prst="rect">
            <a:avLst/>
          </a:prstGeom>
          <a:solidFill>
            <a:srgbClr val="E4EFEA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30368" y="3163824"/>
            <a:ext cx="914400" cy="256032"/>
          </a:xfrm>
          <a:prstGeom prst="rect">
            <a:avLst/>
          </a:prstGeom>
          <a:solidFill>
            <a:srgbClr val="E7EEF6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76656" y="32095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management · 23 deliverables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4315968" y="32095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5276088" y="32095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66928" y="3419856"/>
            <a:ext cx="5669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70248" y="3419856"/>
            <a:ext cx="914400" cy="256032"/>
          </a:xfrm>
          <a:prstGeom prst="rect">
            <a:avLst/>
          </a:prstGeom>
          <a:solidFill>
            <a:srgbClr val="E4EFEA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30368" y="3419856"/>
            <a:ext cx="914400" cy="256032"/>
          </a:xfrm>
          <a:prstGeom prst="rect">
            <a:avLst/>
          </a:prstGeom>
          <a:solidFill>
            <a:srgbClr val="E7EEF6"/>
          </a:solidFill>
          <a:ln w="6350">
            <a:solidFill>
              <a:srgbClr val="E2E4D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76656" y="34655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· tier-2/3 support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4315968" y="34655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8" name="Text 56"/>
          <p:cNvSpPr txBox="1"/>
          <p:nvPr/>
        </p:nvSpPr>
        <p:spPr>
          <a:xfrm>
            <a:off x="5276088" y="34655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66928" y="3675888"/>
            <a:ext cx="5669280" cy="274320"/>
          </a:xfrm>
          <a:prstGeom prst="rect">
            <a:avLst/>
          </a:prstGeom>
          <a:solidFill>
            <a:srgbClr val="E8EAE5"/>
          </a:solidFill>
          <a:ln w="6350">
            <a:solidFill>
              <a:srgbClr val="C7CDC9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76656" y="37307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CY2027 total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4315968" y="3721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31.35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5276088" y="3721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40.15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66928" y="4059936"/>
            <a:ext cx="2483145" cy="274320"/>
          </a:xfrm>
          <a:prstGeom prst="rect">
            <a:avLst/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50073" y="4059936"/>
            <a:ext cx="3186135" cy="27432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76656" y="4114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 ASSET</a:t>
            </a:r>
            <a:endParaRPr lang="en-US" sz="850" dirty="0"/>
          </a:p>
        </p:txBody>
      </p:sp>
      <p:sp>
        <p:nvSpPr>
          <p:cNvPr id="66" name="Text 64"/>
          <p:cNvSpPr txBox="1"/>
          <p:nvPr/>
        </p:nvSpPr>
        <p:spPr>
          <a:xfrm>
            <a:off x="3159801" y="4114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 CLIENT</a:t>
            </a:r>
            <a:endParaRPr 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6601968" y="1152144"/>
            <a:ext cx="50227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FUNDING POSTURES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601968" y="1389888"/>
            <a:ext cx="5022799" cy="1316736"/>
          </a:xfrm>
          <a:prstGeom prst="roundRect">
            <a:avLst>
              <a:gd name="adj" fmla="val 1389"/>
            </a:avLst>
          </a:prstGeom>
          <a:solidFill>
            <a:srgbClr val="E4EFEA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748272" y="14813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7205472" y="1508760"/>
            <a:ext cx="4245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funds the asset in the committed years only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6748272" y="1792224"/>
            <a:ext cx="1485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" kern="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investment</a:t>
            </a:r>
            <a:endParaRPr lang="en-US" sz="650" dirty="0"/>
          </a:p>
        </p:txBody>
      </p:sp>
      <p:sp>
        <p:nvSpPr>
          <p:cNvPr id="72" name="Text 70"/>
          <p:cNvSpPr txBox="1"/>
          <p:nvPr/>
        </p:nvSpPr>
        <p:spPr>
          <a:xfrm>
            <a:off x="6748272" y="1956816"/>
            <a:ext cx="1485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$2.00M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8325002" y="1792224"/>
            <a:ext cx="1485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" kern="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five-year price</a:t>
            </a:r>
            <a:endParaRPr lang="en-US" sz="650" dirty="0"/>
          </a:p>
        </p:txBody>
      </p:sp>
      <p:sp>
        <p:nvSpPr>
          <p:cNvPr id="74" name="Text 72"/>
          <p:cNvSpPr txBox="1"/>
          <p:nvPr/>
        </p:nvSpPr>
        <p:spPr>
          <a:xfrm>
            <a:off x="8325002" y="1956816"/>
            <a:ext cx="1485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$13.59M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9901733" y="1792224"/>
            <a:ext cx="1485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" kern="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Cost-score gain</a:t>
            </a:r>
            <a:endParaRPr lang="en-US" sz="650" dirty="0"/>
          </a:p>
        </p:txBody>
      </p:sp>
      <p:sp>
        <p:nvSpPr>
          <p:cNvPr id="76" name="Text 74"/>
          <p:cNvSpPr txBox="1"/>
          <p:nvPr/>
        </p:nvSpPr>
        <p:spPr>
          <a:xfrm>
            <a:off x="9901733" y="1956816"/>
            <a:ext cx="1485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$2.2M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6748272" y="2249424"/>
            <a:ext cx="47301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exposure confined to CY2027–28. The posture that survives a renewal that is never exercised.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601968" y="2779776"/>
            <a:ext cx="5022799" cy="1316736"/>
          </a:xfrm>
          <a:prstGeom prst="roundRect">
            <a:avLst>
              <a:gd name="adj" fmla="val 1389"/>
            </a:avLst>
          </a:prstGeom>
          <a:solidFill>
            <a:srgbClr val="E7DCC2"/>
          </a:solidFill>
          <a:ln w="12700">
            <a:solidFill>
              <a:srgbClr val="A9741A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748272" y="28712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7205472" y="2898648"/>
            <a:ext cx="4245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funds 50% throughout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6748272" y="3182112"/>
            <a:ext cx="1485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" kern="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investment</a:t>
            </a:r>
            <a:endParaRPr lang="en-US" sz="650" dirty="0"/>
          </a:p>
        </p:txBody>
      </p:sp>
      <p:sp>
        <p:nvSpPr>
          <p:cNvPr id="82" name="Text 80"/>
          <p:cNvSpPr txBox="1"/>
          <p:nvPr/>
        </p:nvSpPr>
        <p:spPr>
          <a:xfrm>
            <a:off x="6748272" y="3346704"/>
            <a:ext cx="1485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$2.78M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8325002" y="3182112"/>
            <a:ext cx="1485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" kern="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five-year price</a:t>
            </a:r>
            <a:endParaRPr lang="en-US" sz="650" dirty="0"/>
          </a:p>
        </p:txBody>
      </p:sp>
      <p:sp>
        <p:nvSpPr>
          <p:cNvPr id="84" name="Text 82"/>
          <p:cNvSpPr txBox="1"/>
          <p:nvPr/>
        </p:nvSpPr>
        <p:spPr>
          <a:xfrm>
            <a:off x="8325002" y="3346704"/>
            <a:ext cx="1485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$12.72M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9901733" y="3182112"/>
            <a:ext cx="1485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" kern="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Cost-score gain</a:t>
            </a:r>
            <a:endParaRPr lang="en-US" sz="650" dirty="0"/>
          </a:p>
        </p:txBody>
      </p:sp>
      <p:sp>
        <p:nvSpPr>
          <p:cNvPr id="86" name="Text 84"/>
          <p:cNvSpPr txBox="1"/>
          <p:nvPr/>
        </p:nvSpPr>
        <p:spPr>
          <a:xfrm>
            <a:off x="9901733" y="3346704"/>
            <a:ext cx="1485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$3.1M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6748272" y="3639312"/>
            <a:ext cx="47301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every year — half of each year’s asset work still sits on the state’s money.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601968" y="4169664"/>
            <a:ext cx="5022799" cy="1316736"/>
          </a:xfrm>
          <a:prstGeom prst="roundRect">
            <a:avLst>
              <a:gd name="adj" fmla="val 1389"/>
            </a:avLst>
          </a:prstGeom>
          <a:solidFill>
            <a:srgbClr val="E7EEF6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748272" y="42611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7205472" y="4288536"/>
            <a:ext cx="4245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funds 100% throughout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6748272" y="4572000"/>
            <a:ext cx="1485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" kern="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investment</a:t>
            </a:r>
            <a:endParaRPr lang="en-US" sz="650" dirty="0"/>
          </a:p>
        </p:txBody>
      </p:sp>
      <p:sp>
        <p:nvSpPr>
          <p:cNvPr id="92" name="Text 90"/>
          <p:cNvSpPr txBox="1"/>
          <p:nvPr/>
        </p:nvSpPr>
        <p:spPr>
          <a:xfrm>
            <a:off x="6748272" y="4736592"/>
            <a:ext cx="1485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$5.56M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8325002" y="4572000"/>
            <a:ext cx="1485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" kern="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five-year price</a:t>
            </a:r>
            <a:endParaRPr lang="en-US" sz="650" dirty="0"/>
          </a:p>
        </p:txBody>
      </p:sp>
      <p:sp>
        <p:nvSpPr>
          <p:cNvPr id="94" name="Text 92"/>
          <p:cNvSpPr txBox="1"/>
          <p:nvPr/>
        </p:nvSpPr>
        <p:spPr>
          <a:xfrm>
            <a:off x="8325002" y="4736592"/>
            <a:ext cx="1485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$9.63M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9901733" y="4572000"/>
            <a:ext cx="1485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" kern="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Cost-score gain</a:t>
            </a:r>
            <a:endParaRPr lang="en-US" sz="650" dirty="0"/>
          </a:p>
        </p:txBody>
      </p:sp>
      <p:sp>
        <p:nvSpPr>
          <p:cNvPr id="96" name="Text 94"/>
          <p:cNvSpPr txBox="1"/>
          <p:nvPr/>
        </p:nvSpPr>
        <p:spPr>
          <a:xfrm>
            <a:off x="9901733" y="4736592"/>
            <a:ext cx="1485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$6.2M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748272" y="5029200"/>
            <a:ext cx="47301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 Strongest bid and cleanest defence — and the largest unfunded bet with no second deal behind it.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566928" y="5632704"/>
            <a:ext cx="11057839" cy="512064"/>
          </a:xfrm>
          <a:prstGeom prst="roundRect">
            <a:avLst>
              <a:gd name="adj" fmla="val 3571"/>
            </a:avLst>
          </a:prstGeom>
          <a:solidFill>
            <a:srgbClr val="003B6F"/>
          </a:solidFill>
          <a:ln w="12700">
            <a:solidFill>
              <a:srgbClr val="003B6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859536" y="5760720"/>
            <a:ext cx="10472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Washington funds is Washington’s deployment. What IBM funds is the platform. Say it in the proposal rather than leaving it implicit.</a:t>
            </a:r>
            <a:endParaRPr lang="en-US" sz="1150" dirty="0"/>
          </a:p>
        </p:txBody>
      </p:sp>
      <p:sp>
        <p:nvSpPr>
          <p:cNvPr id="100" name="Text 98"/>
          <p:cNvSpPr txBox="1"/>
          <p:nvPr/>
        </p:nvSpPr>
        <p:spPr>
          <a:xfrm>
            <a:off x="566928" y="625449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i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blended bid that charges all asset development to Washington does NOT clear the CY2027 ceiling — it is $108,472 over. Some IBM contribution is required whatever the strategy; the only question is how much. Cost is 300 of 1000 points, scored as (lowest evaluated cost ÷ ours) × 300 across the full five-year period.</a:t>
            </a:r>
            <a:endParaRPr lang="en-US" sz="800" dirty="0"/>
          </a:p>
        </p:txBody>
      </p:sp>
      <p:sp>
        <p:nvSpPr>
          <p:cNvPr id="101" name="Text 99"/>
          <p:cNvSpPr txBox="1"/>
          <p:nvPr/>
        </p:nvSpPr>
        <p:spPr>
          <a:xfrm>
            <a:off x="566928" y="6620256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Consulting · Health &amp; Human Services  ·  ties to the Asset vs Client and Funding scenarios tabs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Executive Ask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two years → renewal options → decide this quarter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 CIE · proposal due 23 October 2026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972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  </a:t>
            </a:r>
            <a:pPr indent="0" marL="0">
              <a:buNone/>
            </a:pPr>
            <a:r>
              <a:rPr lang="en-US" sz="850" i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Connect360 is live, deployed on Azure and Marketplace-listed, with a real HIE integration in production · WPCO supplies the governed intelligence layer. US-ONLY DELIVERY per RFP Sec. 3.6.4 — the prior 54.3% offshore blend is void for this bid and every figure below is repriced.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182880" cy="18288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4767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14264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TWO-YEAR TERM — CY2027–28   </a:t>
            </a:r>
            <a:pPr indent="0" marL="0">
              <a:buNone/>
            </a:pPr>
            <a:r>
              <a:rPr lang="en-US" sz="110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only years Washington commits 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1783080"/>
            <a:ext cx="6583680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63240" y="19019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Committed term — MVP + Phase 2</a:t>
            </a:r>
            <a:pPr indent="0" marL="0">
              <a:buNone/>
            </a:pPr>
            <a:r>
              <a:rPr lang="en-US" sz="13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               $6.70m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21284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CY2027 MVP $3.51M (71.5 FTE-mo) — identity, consent, client record, referral, directory, operational reporting, participant portal, 6–8 partners.  CY2028 Phase 2 $3.19M (65.0 FTE-mo) — shared care plan, granular consent, population &amp; equity analytics.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" y="2999232"/>
            <a:ext cx="182880" cy="18288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0129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296265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RENEWAL OPTIONS — CY2029–31   </a:t>
            </a:r>
            <a:pPr indent="0" marL="0">
              <a:buNone/>
            </a:pPr>
            <a:r>
              <a:rPr lang="en-US" sz="110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 Comagine’s sole discretion · no right or expectation of renewal)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310128"/>
            <a:ext cx="3564026" cy="310896"/>
          </a:xfrm>
          <a:prstGeom prst="roundRect">
            <a:avLst>
              <a:gd name="adj" fmla="val 5882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355848"/>
            <a:ext cx="22838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CY2029 · Phase 3 begins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896514" y="3337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$3.23M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621024"/>
            <a:ext cx="3564026" cy="786384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712464"/>
            <a:ext cx="327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notification ingest and exchange, the knowledge graph rebuilt by replaying the MVP event log, journey engine, WPC context ranking behind the existing seam.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13834" y="3310128"/>
            <a:ext cx="3564026" cy="310896"/>
          </a:xfrm>
          <a:prstGeom prst="roundRect">
            <a:avLst>
              <a:gd name="adj" fmla="val 5882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60138" y="3355848"/>
            <a:ext cx="22838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CY2030 · Real-time &amp; inference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643421" y="3337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$2.98M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13834" y="3621024"/>
            <a:ext cx="3564026" cy="786384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60138" y="3712464"/>
            <a:ext cx="327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dispatch, signal dispositioning engine, graph inference and household linkage, enrollment verification, remaining change subscriptions.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060741" y="3310128"/>
            <a:ext cx="3564026" cy="310896"/>
          </a:xfrm>
          <a:prstGeom prst="roundRect">
            <a:avLst>
              <a:gd name="adj" fmla="val 5882"/>
            </a:avLst>
          </a:prstGeom>
          <a:solidFill>
            <a:srgbClr val="7A5CB0"/>
          </a:solidFill>
          <a:ln w="12700">
            <a:solidFill>
              <a:srgbClr val="7A5CB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07045" y="3355848"/>
            <a:ext cx="22838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CY2031 · Agents &amp; maturation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390327" y="3337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$2.90M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60741" y="3621024"/>
            <a:ext cx="3564026" cy="786384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07045" y="3712464"/>
            <a:ext cx="327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agents over the MVP domain verbs and actor model, care-plan intelligence, forecasting and equity monitoring, advanced consent interoperability.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66928" y="4553712"/>
            <a:ext cx="11057839" cy="566928"/>
          </a:xfrm>
          <a:prstGeom prst="roundRect">
            <a:avLst>
              <a:gd name="adj" fmla="val 3226"/>
            </a:avLst>
          </a:prstGeom>
          <a:solidFill>
            <a:srgbClr val="3A2E6B"/>
          </a:solidFill>
          <a:ln w="12700">
            <a:solidFill>
              <a:srgbClr val="3A2E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8096" y="47000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Operations, support &amp; recertification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904488" y="4709160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675E8D"/>
          </a:solidFill>
          <a:ln w="9525">
            <a:solidFill>
              <a:srgbClr val="9A8FB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04488" y="47548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650" dirty="0"/>
          </a:p>
        </p:txBody>
      </p:sp>
      <p:sp>
        <p:nvSpPr>
          <p:cNvPr id="35" name="Text 33"/>
          <p:cNvSpPr txBox="1"/>
          <p:nvPr/>
        </p:nvSpPr>
        <p:spPr>
          <a:xfrm>
            <a:off x="5093208" y="4645152"/>
            <a:ext cx="52513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D6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Tier-2/3 application support, defect resolution and root-cause analysis; annual HITRUST and SOC 2 recertification and penetration testing; governance participation. Comagine owns tier 1. Runs from MVP go-live to the end of the programme — inside each year, not a separate ask.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10481767" y="47548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26 → end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66928" y="5248656"/>
            <a:ext cx="11057839" cy="420624"/>
          </a:xfrm>
          <a:prstGeom prst="roundRect">
            <a:avLst>
              <a:gd name="adj" fmla="val 4348"/>
            </a:avLst>
          </a:prstGeom>
          <a:solidFill>
            <a:srgbClr val="E3EFE9"/>
          </a:solidFill>
          <a:ln w="9525">
            <a:solidFill>
              <a:srgbClr val="BBD6C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2960" y="5349240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EVALUATED PRICE  =  $15.81M   </a:t>
            </a:r>
            <a:pPr indent="0" marL="0">
              <a:buNone/>
            </a:pPr>
            <a:r>
              <a:rPr lang="en-US" sz="950" dirty="0">
                <a:solidFill>
                  <a:srgbClr val="16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$17.3M envelope  ·  $1.49M headroom  ·  CY2027 is the only year over its ceiling: −$108,472 at a 10% margin, and it fits at roughly 7%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797296"/>
            <a:ext cx="11057839" cy="786384"/>
          </a:xfrm>
          <a:prstGeom prst="roundRect">
            <a:avLst>
              <a:gd name="adj" fmla="val 232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9536" y="5907024"/>
            <a:ext cx="104726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6B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REQUESTED THIS QUARTER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59536" y="6163056"/>
            <a:ext cx="104726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6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six gate tests — they decide $2,205,000 of CY2027 scope and none costs more than a day  ·  settle the teaming structure on HITRUST and SOC 2, which changes Submittal Form A  ·  approve the bid at a thin CY2027 margin recovered in the later years  ·  submit the two written questions to Comagine by 9 October.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6638544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Consulting · Health &amp; Human Services  ·  The Executive Ask  ·  ties to the Cost by Scope tab ($15,809,306)  ·  US-only delivery per RFP Sec. 3.6.4  ·  rates are assumptions pending the rate card  ·  estimate class 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 CIE — Delivery Timeline &amp; Executive Ask</dc:title>
  <dc:subject>PptxGenJS Presentation</dc:subject>
  <dc:creator>IBM Consulting</dc:creator>
  <cp:lastModifiedBy>IBM Consulting</cp:lastModifiedBy>
  <cp:revision>1</cp:revision>
  <dcterms:created xsi:type="dcterms:W3CDTF">2026-09-17T05:14:45Z</dcterms:created>
  <dcterms:modified xsi:type="dcterms:W3CDTF">2026-09-17T05:14:45Z</dcterms:modified>
</cp:coreProperties>
</file>